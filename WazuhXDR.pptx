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8288000" cy="10287000"/>
  <p:notesSz cx="6858000" cy="9144000"/>
  <p:embeddedFontLst>
    <p:embeddedFont>
      <p:font typeface="Asap" panose="020B0604020202020204" charset="0"/>
      <p:regular r:id="rId47"/>
    </p:embeddedFont>
    <p:embeddedFont>
      <p:font typeface="Asap Bold" panose="020B0604020202020204" charset="0"/>
      <p:regular r:id="rId48"/>
    </p:embeddedFont>
    <p:embeddedFont>
      <p:font typeface="DM Sans" pitchFamily="2" charset="0"/>
      <p:regular r:id="rId49"/>
    </p:embeddedFont>
    <p:embeddedFont>
      <p:font typeface="Oswald Bold" panose="020B0604020202020204" charset="0"/>
      <p:regular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2" d="100"/>
          <a:sy n="52" d="100"/>
        </p:scale>
        <p:origin x="850" y="3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6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Relationship Id="rId9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6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6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6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Relationship Id="rId9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6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3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6.png"/><Relationship Id="rId7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6.png"/><Relationship Id="rId7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3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3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3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3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3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6.png"/><Relationship Id="rId7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6.png"/><Relationship Id="rId7" Type="http://schemas.openxmlformats.org/officeDocument/2006/relationships/image" Target="../media/image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.png"/><Relationship Id="rId7" Type="http://schemas.openxmlformats.org/officeDocument/2006/relationships/image" Target="../media/image6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Relationship Id="rId9" Type="http://schemas.openxmlformats.org/officeDocument/2006/relationships/image" Target="../media/image6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.png"/><Relationship Id="rId7" Type="http://schemas.openxmlformats.org/officeDocument/2006/relationships/image" Target="../media/image6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.png"/><Relationship Id="rId7" Type="http://schemas.openxmlformats.org/officeDocument/2006/relationships/image" Target="../media/image6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.png"/><Relationship Id="rId7" Type="http://schemas.openxmlformats.org/officeDocument/2006/relationships/image" Target="../media/image7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6.png"/><Relationship Id="rId7" Type="http://schemas.openxmlformats.org/officeDocument/2006/relationships/image" Target="../media/image7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6.png"/><Relationship Id="rId7" Type="http://schemas.openxmlformats.org/officeDocument/2006/relationships/image" Target="../media/image7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6.png"/><Relationship Id="rId7" Type="http://schemas.openxmlformats.org/officeDocument/2006/relationships/image" Target="../media/image7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svg"/><Relationship Id="rId5" Type="http://schemas.openxmlformats.org/officeDocument/2006/relationships/image" Target="../media/image81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7659121">
            <a:off x="15435577" y="5537579"/>
            <a:ext cx="7629294" cy="7828566"/>
          </a:xfrm>
          <a:custGeom>
            <a:avLst/>
            <a:gdLst/>
            <a:ahLst/>
            <a:cxnLst/>
            <a:rect l="l" t="t" r="r" b="b"/>
            <a:pathLst>
              <a:path w="7629294" h="7828566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676448" y="-4899865"/>
            <a:ext cx="9022634" cy="9258300"/>
          </a:xfrm>
          <a:custGeom>
            <a:avLst/>
            <a:gdLst/>
            <a:ahLst/>
            <a:cxnLst/>
            <a:rect l="l" t="t" r="r" b="b"/>
            <a:pathLst>
              <a:path w="9022634" h="9258300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3344234" y="2774811"/>
            <a:ext cx="12214792" cy="5427890"/>
            <a:chOff x="0" y="0"/>
            <a:chExt cx="2358875" cy="10482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58875" cy="1048214"/>
            </a:xfrm>
            <a:custGeom>
              <a:avLst/>
              <a:gdLst/>
              <a:ahLst/>
              <a:cxnLst/>
              <a:rect l="l" t="t" r="r" b="b"/>
              <a:pathLst>
                <a:path w="2358875" h="1048214">
                  <a:moveTo>
                    <a:pt x="0" y="0"/>
                  </a:moveTo>
                  <a:lnTo>
                    <a:pt x="2358875" y="0"/>
                  </a:lnTo>
                  <a:lnTo>
                    <a:pt x="2358875" y="1048214"/>
                  </a:lnTo>
                  <a:lnTo>
                    <a:pt x="0" y="10482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358875" cy="10672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419287" y="3976377"/>
            <a:ext cx="12064686" cy="2919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28"/>
              </a:lnSpc>
            </a:pPr>
            <a:r>
              <a:rPr lang="en-US" sz="5600" spc="548">
                <a:solidFill>
                  <a:srgbClr val="231F20"/>
                </a:solidFill>
                <a:latin typeface="Asap"/>
                <a:ea typeface="Asap"/>
                <a:cs typeface="Asap"/>
                <a:sym typeface="Asap"/>
              </a:rPr>
              <a:t>DEPLOYING AN XDR SOLUTION FOR NETWORK SECURITY WITH WAZUH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659121">
            <a:off x="-4160265" y="5820549"/>
            <a:ext cx="7629294" cy="7828566"/>
          </a:xfrm>
          <a:custGeom>
            <a:avLst/>
            <a:gdLst/>
            <a:ahLst/>
            <a:cxnLst/>
            <a:rect l="l" t="t" r="r" b="b"/>
            <a:pathLst>
              <a:path w="7629294" h="7828566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035044" y="2829019"/>
            <a:ext cx="1400485" cy="4868891"/>
            <a:chOff x="0" y="0"/>
            <a:chExt cx="368852" cy="12823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8852" cy="1282342"/>
            </a:xfrm>
            <a:custGeom>
              <a:avLst/>
              <a:gdLst/>
              <a:ahLst/>
              <a:cxnLst/>
              <a:rect l="l" t="t" r="r" b="b"/>
              <a:pathLst>
                <a:path w="368852" h="1282342">
                  <a:moveTo>
                    <a:pt x="0" y="0"/>
                  </a:moveTo>
                  <a:lnTo>
                    <a:pt x="368852" y="0"/>
                  </a:lnTo>
                  <a:lnTo>
                    <a:pt x="368852" y="1282342"/>
                  </a:lnTo>
                  <a:lnTo>
                    <a:pt x="0" y="1282342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368852" cy="13013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8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435529" y="272795"/>
            <a:ext cx="7416941" cy="1685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99"/>
              </a:lnSpc>
            </a:pPr>
            <a:r>
              <a:rPr lang="en-US" sz="9999" b="1" spc="979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CONTENTS</a:t>
            </a:r>
          </a:p>
        </p:txBody>
      </p:sp>
      <p:sp>
        <p:nvSpPr>
          <p:cNvPr id="7" name="Freeform 7"/>
          <p:cNvSpPr/>
          <p:nvPr/>
        </p:nvSpPr>
        <p:spPr>
          <a:xfrm rot="2016048">
            <a:off x="12046603" y="-732703"/>
            <a:ext cx="10749463" cy="2687366"/>
          </a:xfrm>
          <a:custGeom>
            <a:avLst/>
            <a:gdLst/>
            <a:ahLst/>
            <a:cxnLst/>
            <a:rect l="l" t="t" r="r" b="b"/>
            <a:pathLst>
              <a:path w="10749463" h="2687366">
                <a:moveTo>
                  <a:pt x="0" y="0"/>
                </a:moveTo>
                <a:lnTo>
                  <a:pt x="10749464" y="0"/>
                </a:lnTo>
                <a:lnTo>
                  <a:pt x="10749464" y="2687365"/>
                </a:lnTo>
                <a:lnTo>
                  <a:pt x="0" y="2687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294134" y="3170936"/>
            <a:ext cx="937219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 i="1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94134" y="4314020"/>
            <a:ext cx="937219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 i="1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94134" y="5488686"/>
            <a:ext cx="937219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 i="1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94134" y="6599469"/>
            <a:ext cx="937219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 i="1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69118" y="3267139"/>
            <a:ext cx="5790503" cy="545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INTRODUCTION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869118" y="4438841"/>
            <a:ext cx="3467925" cy="545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TECHNOLOGY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69118" y="5584889"/>
            <a:ext cx="4736179" cy="545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16"/>
              </a:lnSpc>
              <a:spcBef>
                <a:spcPct val="0"/>
              </a:spcBef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DEPLOYMENT MODEL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69118" y="6731465"/>
            <a:ext cx="6076629" cy="545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16"/>
              </a:lnSpc>
              <a:spcBef>
                <a:spcPct val="0"/>
              </a:spcBef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023349" y="7328241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3" y="0"/>
                </a:lnTo>
                <a:lnTo>
                  <a:pt x="960683" y="1052540"/>
                </a:lnTo>
                <a:lnTo>
                  <a:pt x="0" y="10525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994936" y="7891202"/>
            <a:ext cx="1268693" cy="1211025"/>
          </a:xfrm>
          <a:custGeom>
            <a:avLst/>
            <a:gdLst/>
            <a:ahLst/>
            <a:cxnLst/>
            <a:rect l="l" t="t" r="r" b="b"/>
            <a:pathLst>
              <a:path w="1268693" h="1211025">
                <a:moveTo>
                  <a:pt x="0" y="0"/>
                </a:moveTo>
                <a:lnTo>
                  <a:pt x="1268693" y="0"/>
                </a:lnTo>
                <a:lnTo>
                  <a:pt x="1268693" y="1211025"/>
                </a:lnTo>
                <a:lnTo>
                  <a:pt x="0" y="12110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479722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4176364">
            <a:off x="-3321138" y="8351807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87140" y="421958"/>
            <a:ext cx="7246072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70"/>
              </a:lnSpc>
            </a:pPr>
            <a:r>
              <a:rPr lang="en-US" sz="6500" b="1" spc="344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01. INTRODUCTION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1215" y="3090602"/>
            <a:ext cx="16430423" cy="480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25"/>
              </a:lnSpc>
            </a:pPr>
            <a:r>
              <a:rPr lang="en-US" sz="3500" spc="21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In today's technological era, the rapid growth of digitized systems, cloud computing, IoT and remote-work models has created an increasingly complex digital environment. </a:t>
            </a:r>
          </a:p>
          <a:p>
            <a:pPr algn="just">
              <a:lnSpc>
                <a:spcPts val="4725"/>
              </a:lnSpc>
            </a:pPr>
            <a:endParaRPr lang="en-US" sz="3500" spc="210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  <a:p>
            <a:pPr algn="just">
              <a:lnSpc>
                <a:spcPts val="4725"/>
              </a:lnSpc>
              <a:spcBef>
                <a:spcPct val="0"/>
              </a:spcBef>
            </a:pPr>
            <a:r>
              <a:rPr lang="en-US" sz="3500" spc="21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Businesses face not only a growing number and sophistication of cyberattacks (from ransomware and phishing to APT attacks...) but must also protect enormous volumes of data across many different platforms.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1215" y="2143389"/>
            <a:ext cx="3204985" cy="5737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860"/>
              </a:lnSpc>
              <a:spcBef>
                <a:spcPct val="0"/>
              </a:spcBef>
            </a:pPr>
            <a:r>
              <a:rPr lang="en-US" sz="3600" b="1" spc="215" dirty="0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Background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023349" y="7328241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3" y="0"/>
                </a:lnTo>
                <a:lnTo>
                  <a:pt x="960683" y="1052540"/>
                </a:lnTo>
                <a:lnTo>
                  <a:pt x="0" y="10525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479722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176364">
            <a:off x="-2779578" y="7954174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87140" y="421958"/>
            <a:ext cx="7246072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70"/>
              </a:lnSpc>
            </a:pPr>
            <a:r>
              <a:rPr lang="en-US" sz="6500" b="1" spc="344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01. 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1215" y="3600872"/>
            <a:ext cx="14387758" cy="3600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725"/>
              </a:lnSpc>
              <a:buFont typeface="Arial"/>
              <a:buChar char="•"/>
            </a:pPr>
            <a:r>
              <a:rPr lang="en-US" sz="3500" spc="21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Lack of the ability to detect and respond to threats quickly and in a timely manner.</a:t>
            </a:r>
          </a:p>
          <a:p>
            <a:pPr algn="just">
              <a:lnSpc>
                <a:spcPts val="4725"/>
              </a:lnSpc>
            </a:pPr>
            <a:endParaRPr lang="en-US" sz="3500" spc="210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  <a:p>
            <a:pPr marL="755651" lvl="1" indent="-377825" algn="just">
              <a:lnSpc>
                <a:spcPts val="4725"/>
              </a:lnSpc>
              <a:buFont typeface="Arial"/>
              <a:buChar char="•"/>
            </a:pPr>
            <a:r>
              <a:rPr lang="en-US" sz="3500" spc="21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Fragmentation and lack of synchronization among existing security solutions.</a:t>
            </a:r>
          </a:p>
          <a:p>
            <a:pPr algn="just">
              <a:lnSpc>
                <a:spcPts val="4725"/>
              </a:lnSpc>
            </a:pPr>
            <a:endParaRPr lang="en-US" sz="3500" spc="210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  <a:p>
            <a:pPr marL="755651" lvl="1" indent="-377825" algn="just">
              <a:lnSpc>
                <a:spcPts val="4725"/>
              </a:lnSpc>
              <a:buFont typeface="Arial"/>
              <a:buChar char="•"/>
            </a:pPr>
            <a:r>
              <a:rPr lang="en-US" sz="3500" spc="21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A shortage of cybersecurity experts.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1215" y="2143389"/>
            <a:ext cx="2897350" cy="607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860"/>
              </a:lnSpc>
              <a:spcBef>
                <a:spcPct val="0"/>
              </a:spcBef>
            </a:pPr>
            <a:r>
              <a:rPr lang="en-US" sz="3600" b="1" spc="215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Challenges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023349" y="7328241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3" y="0"/>
                </a:lnTo>
                <a:lnTo>
                  <a:pt x="960683" y="1052540"/>
                </a:lnTo>
                <a:lnTo>
                  <a:pt x="0" y="10525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994936" y="7891202"/>
            <a:ext cx="1268693" cy="1211025"/>
          </a:xfrm>
          <a:custGeom>
            <a:avLst/>
            <a:gdLst/>
            <a:ahLst/>
            <a:cxnLst/>
            <a:rect l="l" t="t" r="r" b="b"/>
            <a:pathLst>
              <a:path w="1268693" h="1211025">
                <a:moveTo>
                  <a:pt x="0" y="0"/>
                </a:moveTo>
                <a:lnTo>
                  <a:pt x="1268693" y="0"/>
                </a:lnTo>
                <a:lnTo>
                  <a:pt x="1268693" y="1211025"/>
                </a:lnTo>
                <a:lnTo>
                  <a:pt x="0" y="12110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479722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4176364">
            <a:off x="-3321138" y="8351807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87140" y="421958"/>
            <a:ext cx="7246072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70"/>
              </a:lnSpc>
            </a:pPr>
            <a:r>
              <a:rPr lang="en-US" sz="6500" b="1" spc="344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01. INTRODUCTION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7140" y="3344920"/>
            <a:ext cx="16772160" cy="420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25"/>
              </a:lnSpc>
            </a:pPr>
            <a:r>
              <a:rPr lang="en-US" sz="3500" spc="21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XDR (Extended Detection and Response) is an advanced security solution designed to detect, analyze and automatically respond to cybersecurity threats in a comprehensive and effective way.</a:t>
            </a:r>
          </a:p>
          <a:p>
            <a:pPr algn="just">
              <a:lnSpc>
                <a:spcPts val="4725"/>
              </a:lnSpc>
            </a:pPr>
            <a:endParaRPr lang="en-US" sz="3500" spc="210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  <a:p>
            <a:pPr algn="just">
              <a:lnSpc>
                <a:spcPts val="4725"/>
              </a:lnSpc>
              <a:spcBef>
                <a:spcPct val="0"/>
              </a:spcBef>
            </a:pPr>
            <a:r>
              <a:rPr lang="en-US" sz="3500" spc="21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XDR integrates data from many different sources, including endpoints, networks, applications, cloud and other environments in the enterprise's digital ecosystem.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1979" y="2234010"/>
            <a:ext cx="2631722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25"/>
              </a:lnSpc>
              <a:spcBef>
                <a:spcPct val="0"/>
              </a:spcBef>
            </a:pPr>
            <a:r>
              <a:rPr lang="en-US" sz="3500" b="1" spc="210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Solution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023349" y="7328241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3" y="0"/>
                </a:lnTo>
                <a:lnTo>
                  <a:pt x="960683" y="1052540"/>
                </a:lnTo>
                <a:lnTo>
                  <a:pt x="0" y="10525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994936" y="7891202"/>
            <a:ext cx="1268693" cy="1211025"/>
          </a:xfrm>
          <a:custGeom>
            <a:avLst/>
            <a:gdLst/>
            <a:ahLst/>
            <a:cxnLst/>
            <a:rect l="l" t="t" r="r" b="b"/>
            <a:pathLst>
              <a:path w="1268693" h="1211025">
                <a:moveTo>
                  <a:pt x="0" y="0"/>
                </a:moveTo>
                <a:lnTo>
                  <a:pt x="1268693" y="0"/>
                </a:lnTo>
                <a:lnTo>
                  <a:pt x="1268693" y="1211025"/>
                </a:lnTo>
                <a:lnTo>
                  <a:pt x="0" y="12110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479722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4176364">
            <a:off x="-3542632" y="8878078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87140" y="421958"/>
            <a:ext cx="7246072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70"/>
              </a:lnSpc>
            </a:pPr>
            <a:r>
              <a:rPr lang="en-US" sz="6500" b="1" spc="344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01. INTRODUCTION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1979" y="3456802"/>
            <a:ext cx="16807321" cy="420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25"/>
              </a:lnSpc>
            </a:pPr>
            <a:r>
              <a:rPr lang="en-US" sz="3500" spc="21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XDR acts as a unified platform, collecting and analyzing data from these different sources to provide a comprehensive view of the entire attack chain. This helps detect complex, hard-to-find threats that individual solutions might miss. </a:t>
            </a:r>
          </a:p>
          <a:p>
            <a:pPr algn="just">
              <a:lnSpc>
                <a:spcPts val="4725"/>
              </a:lnSpc>
            </a:pPr>
            <a:endParaRPr lang="en-US" sz="3500" spc="210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  <a:p>
            <a:pPr algn="just">
              <a:lnSpc>
                <a:spcPts val="4725"/>
              </a:lnSpc>
            </a:pPr>
            <a:r>
              <a:rPr lang="en-US" sz="3500" spc="21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In addition, XDR supports automating incident response and handling, helping save time and cost and reducing the risk of human error for the business.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1979" y="2234010"/>
            <a:ext cx="2631722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25"/>
              </a:lnSpc>
              <a:spcBef>
                <a:spcPct val="0"/>
              </a:spcBef>
            </a:pPr>
            <a:r>
              <a:rPr lang="en-US" sz="3500" b="1" spc="210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994936" y="7891202"/>
            <a:ext cx="1268693" cy="1211025"/>
          </a:xfrm>
          <a:custGeom>
            <a:avLst/>
            <a:gdLst/>
            <a:ahLst/>
            <a:cxnLst/>
            <a:rect l="l" t="t" r="r" b="b"/>
            <a:pathLst>
              <a:path w="1268693" h="1211025">
                <a:moveTo>
                  <a:pt x="0" y="0"/>
                </a:moveTo>
                <a:lnTo>
                  <a:pt x="1268693" y="0"/>
                </a:lnTo>
                <a:lnTo>
                  <a:pt x="1268693" y="1211025"/>
                </a:lnTo>
                <a:lnTo>
                  <a:pt x="0" y="12110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479722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4176364">
            <a:off x="-3321138" y="7911788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743752" y="2723654"/>
            <a:ext cx="4935819" cy="4604587"/>
          </a:xfrm>
          <a:custGeom>
            <a:avLst/>
            <a:gdLst/>
            <a:ahLst/>
            <a:cxnLst/>
            <a:rect l="l" t="t" r="r" b="b"/>
            <a:pathLst>
              <a:path w="4935819" h="4604587">
                <a:moveTo>
                  <a:pt x="0" y="0"/>
                </a:moveTo>
                <a:lnTo>
                  <a:pt x="4935820" y="0"/>
                </a:lnTo>
                <a:lnTo>
                  <a:pt x="4935820" y="4604587"/>
                </a:lnTo>
                <a:lnTo>
                  <a:pt x="0" y="46045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383" r="-1383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87140" y="421958"/>
            <a:ext cx="7246072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70"/>
              </a:lnSpc>
            </a:pPr>
            <a:r>
              <a:rPr lang="en-US" sz="6500" b="1" spc="344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01. INTRODUCTION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3019" y="3172647"/>
            <a:ext cx="11182843" cy="3600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25"/>
              </a:lnSpc>
            </a:pPr>
            <a:r>
              <a:rPr lang="en-US" sz="3500" spc="21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Wazuh is a free, open-source security platform that unifies the capabilities of XDR and SIEM.</a:t>
            </a:r>
          </a:p>
          <a:p>
            <a:pPr algn="just">
              <a:lnSpc>
                <a:spcPts val="4725"/>
              </a:lnSpc>
            </a:pPr>
            <a:endParaRPr lang="en-US" sz="3500" spc="210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just">
              <a:lnSpc>
                <a:spcPts val="4725"/>
              </a:lnSpc>
              <a:spcBef>
                <a:spcPct val="0"/>
              </a:spcBef>
            </a:pPr>
            <a:r>
              <a:rPr lang="en-US" sz="3500" spc="21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Wazuh can be deployed on various operating systems such as Windows, Linux, macOS and many virtualization platforms.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1979" y="2234010"/>
            <a:ext cx="4305231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25"/>
              </a:lnSpc>
              <a:spcBef>
                <a:spcPct val="0"/>
              </a:spcBef>
            </a:pPr>
            <a:r>
              <a:rPr lang="en-US" sz="3500" b="1" spc="210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Wazuh Technology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994936" y="7891202"/>
            <a:ext cx="1268693" cy="1211025"/>
          </a:xfrm>
          <a:custGeom>
            <a:avLst/>
            <a:gdLst/>
            <a:ahLst/>
            <a:cxnLst/>
            <a:rect l="l" t="t" r="r" b="b"/>
            <a:pathLst>
              <a:path w="1268693" h="1211025">
                <a:moveTo>
                  <a:pt x="0" y="0"/>
                </a:moveTo>
                <a:lnTo>
                  <a:pt x="1268693" y="0"/>
                </a:lnTo>
                <a:lnTo>
                  <a:pt x="1268693" y="1211025"/>
                </a:lnTo>
                <a:lnTo>
                  <a:pt x="0" y="12110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258228" y="-426771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4176364">
            <a:off x="-2534537" y="709552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581198" y="7595877"/>
            <a:ext cx="2116152" cy="2116152"/>
          </a:xfrm>
          <a:custGeom>
            <a:avLst/>
            <a:gdLst/>
            <a:ahLst/>
            <a:cxnLst/>
            <a:rect l="l" t="t" r="r" b="b"/>
            <a:pathLst>
              <a:path w="2116152" h="2116152">
                <a:moveTo>
                  <a:pt x="0" y="0"/>
                </a:moveTo>
                <a:lnTo>
                  <a:pt x="2116152" y="0"/>
                </a:lnTo>
                <a:lnTo>
                  <a:pt x="2116152" y="2116152"/>
                </a:lnTo>
                <a:lnTo>
                  <a:pt x="0" y="21161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87140" y="2487118"/>
            <a:ext cx="14829060" cy="37156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860"/>
              </a:lnSpc>
            </a:pPr>
            <a:r>
              <a:rPr lang="en-US" sz="3600" b="1" spc="215" dirty="0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Scope of Implementation</a:t>
            </a:r>
          </a:p>
          <a:p>
            <a:pPr algn="just">
              <a:lnSpc>
                <a:spcPts val="4860"/>
              </a:lnSpc>
            </a:pPr>
            <a:endParaRPr lang="en-US" sz="3600" b="1" spc="215" dirty="0">
              <a:solidFill>
                <a:srgbClr val="000000"/>
              </a:solidFill>
              <a:latin typeface="Asap Bold"/>
              <a:ea typeface="Asap Bold"/>
              <a:cs typeface="Asap Bold"/>
              <a:sym typeface="Asap Bold"/>
            </a:endParaRPr>
          </a:p>
          <a:p>
            <a:pPr marL="0" lvl="0" indent="0" algn="just">
              <a:lnSpc>
                <a:spcPts val="4860"/>
              </a:lnSpc>
              <a:spcBef>
                <a:spcPct val="0"/>
              </a:spcBef>
            </a:pPr>
            <a:r>
              <a:rPr lang="en-US" sz="3600" spc="215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Simulate an enterprise network environment and deploy </a:t>
            </a:r>
            <a:r>
              <a:rPr lang="en-US" sz="3600" spc="215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Wazuh</a:t>
            </a:r>
            <a:r>
              <a:rPr lang="en-US" sz="3600" spc="215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integrated with security technologies including Snort, Suricata, Mod Security, </a:t>
            </a:r>
            <a:r>
              <a:rPr lang="en-US" sz="3600" spc="215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VirusTotal</a:t>
            </a:r>
            <a:r>
              <a:rPr lang="en-US" sz="3600" spc="215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and </a:t>
            </a:r>
            <a:r>
              <a:rPr lang="en-US" sz="3600" spc="215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ClamAV</a:t>
            </a:r>
            <a:r>
              <a:rPr lang="en-US" sz="3600" spc="215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, to build a system that monitors, detects and automatically responds to incidents.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7140" y="421958"/>
            <a:ext cx="7246072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70"/>
              </a:lnSpc>
            </a:pPr>
            <a:r>
              <a:rPr lang="en-US" sz="6500" b="1" spc="344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01. INTRODUCTION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994936" y="7891202"/>
            <a:ext cx="1268693" cy="1211025"/>
          </a:xfrm>
          <a:custGeom>
            <a:avLst/>
            <a:gdLst/>
            <a:ahLst/>
            <a:cxnLst/>
            <a:rect l="l" t="t" r="r" b="b"/>
            <a:pathLst>
              <a:path w="1268693" h="1211025">
                <a:moveTo>
                  <a:pt x="0" y="0"/>
                </a:moveTo>
                <a:lnTo>
                  <a:pt x="1268693" y="0"/>
                </a:lnTo>
                <a:lnTo>
                  <a:pt x="1268693" y="1211025"/>
                </a:lnTo>
                <a:lnTo>
                  <a:pt x="0" y="12110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947320" y="-461225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46281" y="5729019"/>
            <a:ext cx="11034696" cy="2436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860"/>
              </a:lnSpc>
              <a:spcBef>
                <a:spcPct val="0"/>
              </a:spcBef>
            </a:pPr>
            <a:r>
              <a:rPr lang="en-US" sz="3600" b="1" spc="215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Mod Security:</a:t>
            </a:r>
            <a:r>
              <a:rPr lang="en-US" sz="3600" spc="21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A powerful WAF tool that helps protect web applications from attacks and security threats, while also providing activity monitoring and logging.</a:t>
            </a:r>
          </a:p>
        </p:txBody>
      </p:sp>
      <p:sp>
        <p:nvSpPr>
          <p:cNvPr id="7" name="Freeform 7"/>
          <p:cNvSpPr/>
          <p:nvPr/>
        </p:nvSpPr>
        <p:spPr>
          <a:xfrm rot="-4176364">
            <a:off x="-4429539" y="762179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980564" y="5795694"/>
            <a:ext cx="3126190" cy="3156249"/>
          </a:xfrm>
          <a:custGeom>
            <a:avLst/>
            <a:gdLst/>
            <a:ahLst/>
            <a:cxnLst/>
            <a:rect l="l" t="t" r="r" b="b"/>
            <a:pathLst>
              <a:path w="3126190" h="3156249">
                <a:moveTo>
                  <a:pt x="0" y="0"/>
                </a:moveTo>
                <a:lnTo>
                  <a:pt x="3126189" y="0"/>
                </a:lnTo>
                <a:lnTo>
                  <a:pt x="3126189" y="3156249"/>
                </a:lnTo>
                <a:lnTo>
                  <a:pt x="0" y="31562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636397" y="2158131"/>
            <a:ext cx="3814522" cy="2408124"/>
          </a:xfrm>
          <a:custGeom>
            <a:avLst/>
            <a:gdLst/>
            <a:ahLst/>
            <a:cxnLst/>
            <a:rect l="l" t="t" r="r" b="b"/>
            <a:pathLst>
              <a:path w="3814522" h="2408124">
                <a:moveTo>
                  <a:pt x="0" y="0"/>
                </a:moveTo>
                <a:lnTo>
                  <a:pt x="3814522" y="0"/>
                </a:lnTo>
                <a:lnTo>
                  <a:pt x="3814522" y="2408125"/>
                </a:lnTo>
                <a:lnTo>
                  <a:pt x="0" y="24081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87140" y="421958"/>
            <a:ext cx="6749114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70"/>
              </a:lnSpc>
            </a:pPr>
            <a:r>
              <a:rPr lang="en-US" sz="6500" b="1" spc="344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02. TECHNOLOGY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6281" y="2423844"/>
            <a:ext cx="11034696" cy="2436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860"/>
              </a:lnSpc>
              <a:spcBef>
                <a:spcPct val="0"/>
              </a:spcBef>
            </a:pPr>
            <a:r>
              <a:rPr lang="en-US" sz="3600" b="1" spc="215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DVWA:</a:t>
            </a:r>
            <a:r>
              <a:rPr lang="en-US" sz="3600" spc="21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Damn Vulnerable Web Application is a deliberately vulnerable web application used to practice web application security skills.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Freeform 3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563600" y="2019299"/>
            <a:ext cx="3221231" cy="2969895"/>
          </a:xfrm>
          <a:custGeom>
            <a:avLst/>
            <a:gdLst/>
            <a:ahLst/>
            <a:cxnLst/>
            <a:rect l="l" t="t" r="r" b="b"/>
            <a:pathLst>
              <a:path w="3267116" h="2894158">
                <a:moveTo>
                  <a:pt x="0" y="0"/>
                </a:moveTo>
                <a:lnTo>
                  <a:pt x="3267117" y="0"/>
                </a:lnTo>
                <a:lnTo>
                  <a:pt x="3267117" y="2894158"/>
                </a:lnTo>
                <a:lnTo>
                  <a:pt x="0" y="28941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85800" y="3448321"/>
            <a:ext cx="10370215" cy="2436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860"/>
              </a:lnSpc>
              <a:spcBef>
                <a:spcPct val="0"/>
              </a:spcBef>
            </a:pPr>
            <a:r>
              <a:rPr lang="en-US" sz="3600" b="1" spc="215" dirty="0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Snort/Suricata:</a:t>
            </a:r>
            <a:r>
              <a:rPr lang="en-US" sz="3600" spc="215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Powerful and flexible IDPS tools, widely used to monitor and detect abnormal network activity and prevent intrusions.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7140" y="421958"/>
            <a:ext cx="6751860" cy="10606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70"/>
              </a:lnSpc>
            </a:pPr>
            <a:r>
              <a:rPr lang="en-US" sz="6500" b="1" spc="344" dirty="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02. TECHNOLOGY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031BFE-D828-97EF-4C23-B54942E2D08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5440" y="5845820"/>
            <a:ext cx="3511491" cy="25573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701242" y="2514600"/>
            <a:ext cx="5199435" cy="1494291"/>
          </a:xfrm>
          <a:custGeom>
            <a:avLst/>
            <a:gdLst/>
            <a:ahLst/>
            <a:cxnLst/>
            <a:rect l="l" t="t" r="r" b="b"/>
            <a:pathLst>
              <a:path w="5199435" h="1494291">
                <a:moveTo>
                  <a:pt x="0" y="0"/>
                </a:moveTo>
                <a:lnTo>
                  <a:pt x="5199435" y="0"/>
                </a:lnTo>
                <a:lnTo>
                  <a:pt x="5199435" y="1494291"/>
                </a:lnTo>
                <a:lnTo>
                  <a:pt x="0" y="14942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806514" y="5511753"/>
            <a:ext cx="3723500" cy="3225482"/>
          </a:xfrm>
          <a:custGeom>
            <a:avLst/>
            <a:gdLst/>
            <a:ahLst/>
            <a:cxnLst/>
            <a:rect l="l" t="t" r="r" b="b"/>
            <a:pathLst>
              <a:path w="3723500" h="3225482">
                <a:moveTo>
                  <a:pt x="0" y="0"/>
                </a:moveTo>
                <a:lnTo>
                  <a:pt x="3723501" y="0"/>
                </a:lnTo>
                <a:lnTo>
                  <a:pt x="3723501" y="3225482"/>
                </a:lnTo>
                <a:lnTo>
                  <a:pt x="0" y="32254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71984" y="2447925"/>
            <a:ext cx="10862423" cy="3046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860"/>
              </a:lnSpc>
              <a:spcBef>
                <a:spcPct val="0"/>
              </a:spcBef>
            </a:pPr>
            <a:r>
              <a:rPr lang="en-US" sz="3600" b="1" spc="215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VirusTotal:</a:t>
            </a:r>
            <a:r>
              <a:rPr lang="en-US" sz="3600" spc="21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An online tool that analyzes suspicious files and URLs to detect malware and malicious content using anti-virus engines and website scanners.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1984" y="5891006"/>
            <a:ext cx="10862423" cy="2436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860"/>
              </a:lnSpc>
              <a:spcBef>
                <a:spcPct val="0"/>
              </a:spcBef>
            </a:pPr>
            <a:r>
              <a:rPr lang="en-US" sz="3600" b="1" spc="215" dirty="0" err="1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ClamAV</a:t>
            </a:r>
            <a:r>
              <a:rPr lang="en-US" sz="3600" b="1" spc="215" dirty="0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:</a:t>
            </a:r>
            <a:r>
              <a:rPr lang="en-US" sz="3600" spc="215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Open-source, cross-platform anti-virus software. The main purpose of </a:t>
            </a:r>
            <a:r>
              <a:rPr lang="en-US" sz="3600" spc="215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ClamAV</a:t>
            </a:r>
            <a:r>
              <a:rPr lang="en-US" sz="3600" spc="215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is to detect various types of malware such as viruses, worms, trojans and rootkits.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7140" y="421958"/>
            <a:ext cx="6256906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70"/>
              </a:lnSpc>
            </a:pPr>
            <a:r>
              <a:rPr lang="en-US" sz="6500" b="1" spc="344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02. TECHNOLOGY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88697" y="22860"/>
            <a:ext cx="10282745" cy="8136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000" b="1" spc="265" dirty="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03. DEPLOYMENT ARCHITECTURE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C6E72D-0D8E-F181-683A-879A2CC070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265" y="1257300"/>
            <a:ext cx="10716787" cy="815289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169367" y="-10264537"/>
            <a:ext cx="15841853" cy="16255633"/>
          </a:xfrm>
          <a:custGeom>
            <a:avLst/>
            <a:gdLst/>
            <a:ahLst/>
            <a:cxnLst/>
            <a:rect l="l" t="t" r="r" b="b"/>
            <a:pathLst>
              <a:path w="15841853" h="1625563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87377" y="3340371"/>
            <a:ext cx="7332153" cy="2021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60"/>
              </a:lnSpc>
            </a:pPr>
            <a:r>
              <a:rPr lang="en-US" sz="12000" b="1" spc="117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04. DEMO</a:t>
            </a:r>
          </a:p>
        </p:txBody>
      </p:sp>
      <p:sp>
        <p:nvSpPr>
          <p:cNvPr id="4" name="Freeform 4"/>
          <p:cNvSpPr/>
          <p:nvPr/>
        </p:nvSpPr>
        <p:spPr>
          <a:xfrm>
            <a:off x="13447294" y="-3843198"/>
            <a:ext cx="15841853" cy="16255633"/>
          </a:xfrm>
          <a:custGeom>
            <a:avLst/>
            <a:gdLst/>
            <a:ahLst/>
            <a:cxnLst/>
            <a:rect l="l" t="t" r="r" b="b"/>
            <a:pathLst>
              <a:path w="15841853" h="1625563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70117" y="3974327"/>
            <a:ext cx="15802244" cy="4187595"/>
          </a:xfrm>
          <a:custGeom>
            <a:avLst/>
            <a:gdLst/>
            <a:ahLst/>
            <a:cxnLst/>
            <a:rect l="l" t="t" r="r" b="b"/>
            <a:pathLst>
              <a:path w="15802244" h="4187595">
                <a:moveTo>
                  <a:pt x="0" y="0"/>
                </a:moveTo>
                <a:lnTo>
                  <a:pt x="15802244" y="0"/>
                </a:lnTo>
                <a:lnTo>
                  <a:pt x="15802244" y="4187595"/>
                </a:lnTo>
                <a:lnTo>
                  <a:pt x="0" y="41875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87140" y="274320"/>
            <a:ext cx="17029474" cy="692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10"/>
              </a:lnSpc>
            </a:pPr>
            <a:r>
              <a:rPr lang="en-US" sz="3200" b="1" spc="238" dirty="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1. INTEGRATING MOD SECURITY AND WAZUH SERVER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0117" y="3168512"/>
            <a:ext cx="14247736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320"/>
              </a:lnSpc>
              <a:spcBef>
                <a:spcPct val="0"/>
              </a:spcBef>
            </a:pPr>
            <a:r>
              <a:rPr lang="en-US" sz="3200" spc="192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Use rules on ModSecurity to prevent attacks against DVWA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0117" y="1553072"/>
            <a:ext cx="16589183" cy="1091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320"/>
              </a:lnSpc>
              <a:spcBef>
                <a:spcPct val="0"/>
              </a:spcBef>
            </a:pPr>
            <a:r>
              <a:rPr lang="en-US" sz="3200" spc="192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This scenario simulates common web attacks against the DVWA machine. Mod Security is then used to block the attacks, and the logs are checked as they are pushed to the </a:t>
            </a:r>
            <a:r>
              <a:rPr lang="en-US" sz="3200" spc="192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Wazuh</a:t>
            </a:r>
            <a:r>
              <a:rPr lang="en-US" sz="3200" spc="192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Dashboard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404631" y="2693907"/>
            <a:ext cx="13656269" cy="4899186"/>
          </a:xfrm>
          <a:custGeom>
            <a:avLst/>
            <a:gdLst/>
            <a:ahLst/>
            <a:cxnLst/>
            <a:rect l="l" t="t" r="r" b="b"/>
            <a:pathLst>
              <a:path w="13656269" h="4899186">
                <a:moveTo>
                  <a:pt x="0" y="0"/>
                </a:moveTo>
                <a:lnTo>
                  <a:pt x="13656269" y="0"/>
                </a:lnTo>
                <a:lnTo>
                  <a:pt x="13656269" y="4899186"/>
                </a:lnTo>
                <a:lnTo>
                  <a:pt x="0" y="48991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240897" y="5954301"/>
            <a:ext cx="13288470" cy="4069594"/>
          </a:xfrm>
          <a:custGeom>
            <a:avLst/>
            <a:gdLst/>
            <a:ahLst/>
            <a:cxnLst/>
            <a:rect l="l" t="t" r="r" b="b"/>
            <a:pathLst>
              <a:path w="13288470" h="4069594">
                <a:moveTo>
                  <a:pt x="0" y="0"/>
                </a:moveTo>
                <a:lnTo>
                  <a:pt x="13288470" y="0"/>
                </a:lnTo>
                <a:lnTo>
                  <a:pt x="13288470" y="4069593"/>
                </a:lnTo>
                <a:lnTo>
                  <a:pt x="0" y="40695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87140" y="1511650"/>
            <a:ext cx="16526055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725"/>
              </a:lnSpc>
              <a:spcBef>
                <a:spcPct val="0"/>
              </a:spcBef>
            </a:pPr>
            <a:r>
              <a:rPr lang="en-US" sz="3500" spc="21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Carry out an SQL Injection attack against the machine running DVWA. This attack is blocked and logged by Mod Security.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7140" y="274320"/>
            <a:ext cx="17029474" cy="692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10"/>
              </a:lnSpc>
            </a:pPr>
            <a:r>
              <a:rPr lang="en-US" sz="3200" b="1" spc="238" dirty="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1. INTEGRATING MOD SECURITY AND WAZUH SERVER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476644" y="-4583659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03702" y="1168246"/>
            <a:ext cx="17249917" cy="999074"/>
          </a:xfrm>
          <a:custGeom>
            <a:avLst/>
            <a:gdLst/>
            <a:ahLst/>
            <a:cxnLst/>
            <a:rect l="l" t="t" r="r" b="b"/>
            <a:pathLst>
              <a:path w="17249917" h="999074">
                <a:moveTo>
                  <a:pt x="0" y="0"/>
                </a:moveTo>
                <a:lnTo>
                  <a:pt x="17249917" y="0"/>
                </a:lnTo>
                <a:lnTo>
                  <a:pt x="17249917" y="999074"/>
                </a:lnTo>
                <a:lnTo>
                  <a:pt x="0" y="9990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143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03702" y="2329162"/>
            <a:ext cx="10900383" cy="4728041"/>
          </a:xfrm>
          <a:custGeom>
            <a:avLst/>
            <a:gdLst/>
            <a:ahLst/>
            <a:cxnLst/>
            <a:rect l="l" t="t" r="r" b="b"/>
            <a:pathLst>
              <a:path w="10900383" h="4728041">
                <a:moveTo>
                  <a:pt x="0" y="0"/>
                </a:moveTo>
                <a:lnTo>
                  <a:pt x="10900383" y="0"/>
                </a:lnTo>
                <a:lnTo>
                  <a:pt x="10900383" y="4728041"/>
                </a:lnTo>
                <a:lnTo>
                  <a:pt x="0" y="47280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974658" y="3692240"/>
            <a:ext cx="7378001" cy="5811968"/>
          </a:xfrm>
          <a:custGeom>
            <a:avLst/>
            <a:gdLst/>
            <a:ahLst/>
            <a:cxnLst/>
            <a:rect l="l" t="t" r="r" b="b"/>
            <a:pathLst>
              <a:path w="7378001" h="5811968">
                <a:moveTo>
                  <a:pt x="0" y="0"/>
                </a:moveTo>
                <a:lnTo>
                  <a:pt x="7378001" y="0"/>
                </a:lnTo>
                <a:lnTo>
                  <a:pt x="7378001" y="5811968"/>
                </a:lnTo>
                <a:lnTo>
                  <a:pt x="0" y="58119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2752118" y="5715543"/>
            <a:ext cx="4801501" cy="10892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53"/>
              </a:lnSpc>
              <a:spcBef>
                <a:spcPct val="0"/>
              </a:spcBef>
            </a:pPr>
            <a:r>
              <a:rPr lang="en-US" sz="2000" spc="202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Mod Security logs are pushed to the </a:t>
            </a:r>
            <a:r>
              <a:rPr lang="en-US" sz="2000" spc="202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Wazuh</a:t>
            </a:r>
            <a:r>
              <a:rPr lang="en-US" sz="2000" spc="202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Server Dashboard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7140" y="274320"/>
            <a:ext cx="17029474" cy="692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10"/>
              </a:lnSpc>
            </a:pPr>
            <a:r>
              <a:rPr lang="en-US" sz="3200" b="1" spc="238" dirty="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1. INTEGRATING MOD SECURITY AND WAZUH SERVER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29263" y="2148279"/>
            <a:ext cx="13740668" cy="2026749"/>
          </a:xfrm>
          <a:custGeom>
            <a:avLst/>
            <a:gdLst/>
            <a:ahLst/>
            <a:cxnLst/>
            <a:rect l="l" t="t" r="r" b="b"/>
            <a:pathLst>
              <a:path w="13740668" h="2026749">
                <a:moveTo>
                  <a:pt x="0" y="0"/>
                </a:moveTo>
                <a:lnTo>
                  <a:pt x="13740668" y="0"/>
                </a:lnTo>
                <a:lnTo>
                  <a:pt x="13740668" y="2026749"/>
                </a:lnTo>
                <a:lnTo>
                  <a:pt x="0" y="20267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70539" y="4441728"/>
            <a:ext cx="7463911" cy="5665722"/>
          </a:xfrm>
          <a:custGeom>
            <a:avLst/>
            <a:gdLst/>
            <a:ahLst/>
            <a:cxnLst/>
            <a:rect l="l" t="t" r="r" b="b"/>
            <a:pathLst>
              <a:path w="7463911" h="5665722">
                <a:moveTo>
                  <a:pt x="0" y="0"/>
                </a:moveTo>
                <a:lnTo>
                  <a:pt x="7463911" y="0"/>
                </a:lnTo>
                <a:lnTo>
                  <a:pt x="7463911" y="5665722"/>
                </a:lnTo>
                <a:lnTo>
                  <a:pt x="0" y="56657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87140" y="274320"/>
            <a:ext cx="17029474" cy="70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10"/>
              </a:lnSpc>
            </a:pPr>
            <a:r>
              <a:rPr lang="en-US" sz="3600" b="1" spc="238" dirty="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2. INTEGRATING SNORT AND WAZUH SERVER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7140" y="1334962"/>
            <a:ext cx="15946616" cy="484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320"/>
              </a:lnSpc>
              <a:spcBef>
                <a:spcPct val="0"/>
              </a:spcBef>
            </a:pPr>
            <a:r>
              <a:rPr lang="en-US" sz="2500" spc="192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Configure a Snort rule so that only ports within a predefined range can be accessed.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01878" y="6285445"/>
            <a:ext cx="8514737" cy="1036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320"/>
              </a:lnSpc>
              <a:spcBef>
                <a:spcPct val="0"/>
              </a:spcBef>
            </a:pPr>
            <a:r>
              <a:rPr lang="en-US" sz="2500" spc="192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The attacker is blocked if they try to access ports outside the specified range.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340096" y="6352120"/>
            <a:ext cx="8176518" cy="3574588"/>
          </a:xfrm>
          <a:custGeom>
            <a:avLst/>
            <a:gdLst/>
            <a:ahLst/>
            <a:cxnLst/>
            <a:rect l="l" t="t" r="r" b="b"/>
            <a:pathLst>
              <a:path w="8176518" h="3574588">
                <a:moveTo>
                  <a:pt x="0" y="0"/>
                </a:moveTo>
                <a:lnTo>
                  <a:pt x="8176519" y="0"/>
                </a:lnTo>
                <a:lnTo>
                  <a:pt x="8176519" y="3574588"/>
                </a:lnTo>
                <a:lnTo>
                  <a:pt x="0" y="35745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52604" y="1388429"/>
            <a:ext cx="7946041" cy="4683524"/>
          </a:xfrm>
          <a:custGeom>
            <a:avLst/>
            <a:gdLst/>
            <a:ahLst/>
            <a:cxnLst/>
            <a:rect l="l" t="t" r="r" b="b"/>
            <a:pathLst>
              <a:path w="7946041" h="4683524">
                <a:moveTo>
                  <a:pt x="0" y="0"/>
                </a:moveTo>
                <a:lnTo>
                  <a:pt x="7946041" y="0"/>
                </a:lnTo>
                <a:lnTo>
                  <a:pt x="7946041" y="4683524"/>
                </a:lnTo>
                <a:lnTo>
                  <a:pt x="0" y="46835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176850" y="2674090"/>
            <a:ext cx="6725380" cy="105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320"/>
              </a:lnSpc>
              <a:spcBef>
                <a:spcPct val="0"/>
              </a:spcBef>
            </a:pPr>
            <a:r>
              <a:rPr lang="en-US" sz="3000" spc="192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Wazuh</a:t>
            </a:r>
            <a:r>
              <a:rPr lang="en-US" sz="3000" spc="192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receives Snort's alert and displays it on the dashboard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72880" y="8072739"/>
            <a:ext cx="5700508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320"/>
              </a:lnSpc>
              <a:spcBef>
                <a:spcPct val="0"/>
              </a:spcBef>
            </a:pPr>
            <a:r>
              <a:rPr lang="en-US" sz="3200" spc="192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Detailed alert from Snort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7140" y="274320"/>
            <a:ext cx="17029474" cy="70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10"/>
              </a:lnSpc>
            </a:pPr>
            <a:r>
              <a:rPr lang="en-US" sz="3600" b="1" spc="238" dirty="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2. INTEGRATING SNORT AND WAZUH SERVER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48359" y="2850382"/>
            <a:ext cx="16499098" cy="1423047"/>
          </a:xfrm>
          <a:custGeom>
            <a:avLst/>
            <a:gdLst/>
            <a:ahLst/>
            <a:cxnLst/>
            <a:rect l="l" t="t" r="r" b="b"/>
            <a:pathLst>
              <a:path w="16499098" h="1423047">
                <a:moveTo>
                  <a:pt x="0" y="0"/>
                </a:moveTo>
                <a:lnTo>
                  <a:pt x="16499098" y="0"/>
                </a:lnTo>
                <a:lnTo>
                  <a:pt x="16499098" y="1423047"/>
                </a:lnTo>
                <a:lnTo>
                  <a:pt x="0" y="14230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48359" y="5340999"/>
            <a:ext cx="10009860" cy="1783494"/>
          </a:xfrm>
          <a:custGeom>
            <a:avLst/>
            <a:gdLst/>
            <a:ahLst/>
            <a:cxnLst/>
            <a:rect l="l" t="t" r="r" b="b"/>
            <a:pathLst>
              <a:path w="10009860" h="1783494">
                <a:moveTo>
                  <a:pt x="0" y="0"/>
                </a:moveTo>
                <a:lnTo>
                  <a:pt x="10009860" y="0"/>
                </a:lnTo>
                <a:lnTo>
                  <a:pt x="10009860" y="1783494"/>
                </a:lnTo>
                <a:lnTo>
                  <a:pt x="0" y="17834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48359" y="7405306"/>
            <a:ext cx="13718392" cy="1634166"/>
          </a:xfrm>
          <a:custGeom>
            <a:avLst/>
            <a:gdLst/>
            <a:ahLst/>
            <a:cxnLst/>
            <a:rect l="l" t="t" r="r" b="b"/>
            <a:pathLst>
              <a:path w="13718392" h="1634166">
                <a:moveTo>
                  <a:pt x="0" y="0"/>
                </a:moveTo>
                <a:lnTo>
                  <a:pt x="13718392" y="0"/>
                </a:lnTo>
                <a:lnTo>
                  <a:pt x="13718392" y="1634166"/>
                </a:lnTo>
                <a:lnTo>
                  <a:pt x="0" y="16341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48359" y="1535375"/>
            <a:ext cx="14761414" cy="1036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320"/>
              </a:lnSpc>
              <a:spcBef>
                <a:spcPct val="0"/>
              </a:spcBef>
            </a:pPr>
            <a:r>
              <a:rPr lang="en-US" sz="2500" spc="192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The Snort rule blocks the ICMP flood attack if it detects any source sending 100 packets/5s to the victim machine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7140" y="274320"/>
            <a:ext cx="17029474" cy="70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10"/>
              </a:lnSpc>
            </a:pPr>
            <a:r>
              <a:rPr lang="en-US" sz="3600" b="1" spc="238" dirty="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2. INTEGRATING SNORT AND WAZUH SERVER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8359" y="4594860"/>
            <a:ext cx="14205357" cy="484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320"/>
              </a:lnSpc>
              <a:spcBef>
                <a:spcPct val="0"/>
              </a:spcBef>
            </a:pPr>
            <a:r>
              <a:rPr lang="en-US" sz="2500" spc="192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The attacker connects to the victim and uses hping3 to launch an ICMP flood attack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01028" y="1284354"/>
            <a:ext cx="7521169" cy="5313870"/>
          </a:xfrm>
          <a:custGeom>
            <a:avLst/>
            <a:gdLst/>
            <a:ahLst/>
            <a:cxnLst/>
            <a:rect l="l" t="t" r="r" b="b"/>
            <a:pathLst>
              <a:path w="7521169" h="5313870">
                <a:moveTo>
                  <a:pt x="0" y="0"/>
                </a:moveTo>
                <a:lnTo>
                  <a:pt x="7521169" y="0"/>
                </a:lnTo>
                <a:lnTo>
                  <a:pt x="7521169" y="5313870"/>
                </a:lnTo>
                <a:lnTo>
                  <a:pt x="0" y="53138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865391" y="7124494"/>
            <a:ext cx="9897161" cy="2433345"/>
          </a:xfrm>
          <a:custGeom>
            <a:avLst/>
            <a:gdLst/>
            <a:ahLst/>
            <a:cxnLst/>
            <a:rect l="l" t="t" r="r" b="b"/>
            <a:pathLst>
              <a:path w="9897161" h="2433345">
                <a:moveTo>
                  <a:pt x="0" y="0"/>
                </a:moveTo>
                <a:lnTo>
                  <a:pt x="9897162" y="0"/>
                </a:lnTo>
                <a:lnTo>
                  <a:pt x="9897162" y="2433345"/>
                </a:lnTo>
                <a:lnTo>
                  <a:pt x="0" y="24333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87140" y="274320"/>
            <a:ext cx="17029474" cy="70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10"/>
              </a:lnSpc>
            </a:pPr>
            <a:r>
              <a:rPr lang="en-US" sz="3600" b="1" spc="238" dirty="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2. INTEGRATING SNORT AND WAZUH SERVER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45261" y="2915072"/>
            <a:ext cx="7254652" cy="498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320"/>
              </a:lnSpc>
              <a:spcBef>
                <a:spcPct val="0"/>
              </a:spcBef>
            </a:pPr>
            <a:r>
              <a:rPr lang="en-US" sz="3000" spc="192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Wazuh</a:t>
            </a:r>
            <a:r>
              <a:rPr lang="en-US" sz="3000" spc="192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displays the alert from Snort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24200" y="8033509"/>
            <a:ext cx="3756258" cy="504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320"/>
              </a:lnSpc>
              <a:spcBef>
                <a:spcPct val="0"/>
              </a:spcBef>
            </a:pPr>
            <a:r>
              <a:rPr lang="en-US" sz="3200" spc="192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Snort log detail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756089" y="3498045"/>
            <a:ext cx="8917619" cy="5547180"/>
          </a:xfrm>
          <a:custGeom>
            <a:avLst/>
            <a:gdLst/>
            <a:ahLst/>
            <a:cxnLst/>
            <a:rect l="l" t="t" r="r" b="b"/>
            <a:pathLst>
              <a:path w="8917619" h="5547180">
                <a:moveTo>
                  <a:pt x="0" y="0"/>
                </a:moveTo>
                <a:lnTo>
                  <a:pt x="8917619" y="0"/>
                </a:lnTo>
                <a:lnTo>
                  <a:pt x="8917619" y="5547180"/>
                </a:lnTo>
                <a:lnTo>
                  <a:pt x="0" y="55471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87140" y="3538878"/>
            <a:ext cx="7607705" cy="5410951"/>
          </a:xfrm>
          <a:custGeom>
            <a:avLst/>
            <a:gdLst/>
            <a:ahLst/>
            <a:cxnLst/>
            <a:rect l="l" t="t" r="r" b="b"/>
            <a:pathLst>
              <a:path w="7607705" h="5410951">
                <a:moveTo>
                  <a:pt x="0" y="0"/>
                </a:moveTo>
                <a:lnTo>
                  <a:pt x="7607705" y="0"/>
                </a:lnTo>
                <a:lnTo>
                  <a:pt x="7607705" y="5410951"/>
                </a:lnTo>
                <a:lnTo>
                  <a:pt x="0" y="54109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87140" y="460058"/>
            <a:ext cx="15215410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4000" b="1" spc="23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3. MONITORING COMMANDS ON LINUX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7140" y="1654884"/>
            <a:ext cx="16772160" cy="148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79"/>
              </a:lnSpc>
            </a:pPr>
            <a:r>
              <a:rPr lang="en-US" sz="3000" dirty="0">
                <a:solidFill>
                  <a:srgbClr val="000000"/>
                </a:solidFill>
                <a:latin typeface="Asap" panose="020B0604020202020204" charset="0"/>
                <a:ea typeface="Asap"/>
                <a:cs typeface="Asap"/>
                <a:sym typeface="Asap"/>
              </a:rPr>
              <a:t>Use the tool </a:t>
            </a:r>
            <a:r>
              <a:rPr lang="en-US" sz="3000" b="1" dirty="0" err="1">
                <a:solidFill>
                  <a:srgbClr val="000000"/>
                </a:solidFill>
                <a:latin typeface="Asap" panose="020B0604020202020204" charset="0"/>
                <a:ea typeface="Asap Bold"/>
                <a:cs typeface="Asap Bold"/>
                <a:sym typeface="Asap Bold"/>
              </a:rPr>
              <a:t>auditd</a:t>
            </a:r>
            <a:r>
              <a:rPr lang="en-US" sz="3000" dirty="0">
                <a:solidFill>
                  <a:srgbClr val="000000"/>
                </a:solidFill>
                <a:latin typeface="Asap" panose="020B0604020202020204" charset="0"/>
                <a:ea typeface="Asap"/>
                <a:cs typeface="Asap"/>
                <a:sym typeface="Asap"/>
              </a:rPr>
              <a:t> to help collect commands on Linux.</a:t>
            </a:r>
          </a:p>
          <a:p>
            <a:pPr marL="0" lvl="1" indent="0" algn="just">
              <a:lnSpc>
                <a:spcPts val="3879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sap" panose="020B0604020202020204" charset="0"/>
                <a:ea typeface="Asap"/>
                <a:cs typeface="Asap"/>
                <a:sym typeface="Asap"/>
              </a:rPr>
              <a:t>It collects not only commands entered by the user but also commands run in the background by the system, generated by the OS, or from system health checks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87140" y="1480591"/>
            <a:ext cx="10489239" cy="2441939"/>
          </a:xfrm>
          <a:custGeom>
            <a:avLst/>
            <a:gdLst/>
            <a:ahLst/>
            <a:cxnLst/>
            <a:rect l="l" t="t" r="r" b="b"/>
            <a:pathLst>
              <a:path w="10489239" h="2441939">
                <a:moveTo>
                  <a:pt x="0" y="0"/>
                </a:moveTo>
                <a:lnTo>
                  <a:pt x="10489240" y="0"/>
                </a:lnTo>
                <a:lnTo>
                  <a:pt x="10489240" y="2441939"/>
                </a:lnTo>
                <a:lnTo>
                  <a:pt x="0" y="24419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87140" y="5325816"/>
            <a:ext cx="10146150" cy="3932484"/>
          </a:xfrm>
          <a:custGeom>
            <a:avLst/>
            <a:gdLst/>
            <a:ahLst/>
            <a:cxnLst/>
            <a:rect l="l" t="t" r="r" b="b"/>
            <a:pathLst>
              <a:path w="10146150" h="3932484">
                <a:moveTo>
                  <a:pt x="0" y="0"/>
                </a:moveTo>
                <a:lnTo>
                  <a:pt x="10146150" y="0"/>
                </a:lnTo>
                <a:lnTo>
                  <a:pt x="10146150" y="3932484"/>
                </a:lnTo>
                <a:lnTo>
                  <a:pt x="0" y="39324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143450" y="5805405"/>
            <a:ext cx="6688026" cy="3329018"/>
          </a:xfrm>
          <a:custGeom>
            <a:avLst/>
            <a:gdLst/>
            <a:ahLst/>
            <a:cxnLst/>
            <a:rect l="l" t="t" r="r" b="b"/>
            <a:pathLst>
              <a:path w="6688026" h="3329018">
                <a:moveTo>
                  <a:pt x="0" y="0"/>
                </a:moveTo>
                <a:lnTo>
                  <a:pt x="6688026" y="0"/>
                </a:lnTo>
                <a:lnTo>
                  <a:pt x="6688026" y="3329017"/>
                </a:lnTo>
                <a:lnTo>
                  <a:pt x="0" y="33290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87140" y="460058"/>
            <a:ext cx="15215410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4000" b="1" spc="23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3. MONITORING COMMANDS ON LINUX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38775" y="1757316"/>
            <a:ext cx="6392701" cy="1974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3879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On the </a:t>
            </a:r>
            <a:r>
              <a:rPr lang="en-US" sz="3000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Wazuh</a:t>
            </a: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server, apply a custom configuration to create a list of commands that are dangerous to the system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7140" y="4408876"/>
            <a:ext cx="15412163" cy="460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3879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Wazuh</a:t>
            </a: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sends a special alert if any of these commands are executed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87140" y="1460309"/>
            <a:ext cx="10989908" cy="1808269"/>
          </a:xfrm>
          <a:custGeom>
            <a:avLst/>
            <a:gdLst/>
            <a:ahLst/>
            <a:cxnLst/>
            <a:rect l="l" t="t" r="r" b="b"/>
            <a:pathLst>
              <a:path w="10989908" h="1808269">
                <a:moveTo>
                  <a:pt x="0" y="0"/>
                </a:moveTo>
                <a:lnTo>
                  <a:pt x="10989908" y="0"/>
                </a:lnTo>
                <a:lnTo>
                  <a:pt x="10989908" y="1808269"/>
                </a:lnTo>
                <a:lnTo>
                  <a:pt x="0" y="18082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87140" y="3726668"/>
            <a:ext cx="7855904" cy="5976028"/>
          </a:xfrm>
          <a:custGeom>
            <a:avLst/>
            <a:gdLst/>
            <a:ahLst/>
            <a:cxnLst/>
            <a:rect l="l" t="t" r="r" b="b"/>
            <a:pathLst>
              <a:path w="7855904" h="5976028">
                <a:moveTo>
                  <a:pt x="0" y="0"/>
                </a:moveTo>
                <a:lnTo>
                  <a:pt x="7855904" y="0"/>
                </a:lnTo>
                <a:lnTo>
                  <a:pt x="7855904" y="5976027"/>
                </a:lnTo>
                <a:lnTo>
                  <a:pt x="0" y="59760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87140" y="460058"/>
            <a:ext cx="15215410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4000" b="1" spc="23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3. MONITORING COMMANDS ON LINUX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95299" y="1663086"/>
            <a:ext cx="5936178" cy="148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3879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The user '</a:t>
            </a:r>
            <a:r>
              <a:rPr lang="en-US" sz="3000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phuc</a:t>
            </a: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' does not have permission to use the </a:t>
            </a:r>
            <a:r>
              <a:rPr lang="en-US" sz="3000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useradd</a:t>
            </a: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command, even as root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51955" y="5674249"/>
            <a:ext cx="8644299" cy="148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3879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Exploit vim to escalate privileges. Now the user '</a:t>
            </a:r>
            <a:r>
              <a:rPr lang="en-US" sz="3000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phuc</a:t>
            </a: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' can execute the </a:t>
            </a:r>
            <a:r>
              <a:rPr lang="en-US" sz="3000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useradd</a:t>
            </a: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command with root privileges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49589" y="4163903"/>
            <a:ext cx="8733539" cy="5300207"/>
          </a:xfrm>
          <a:custGeom>
            <a:avLst/>
            <a:gdLst/>
            <a:ahLst/>
            <a:cxnLst/>
            <a:rect l="l" t="t" r="r" b="b"/>
            <a:pathLst>
              <a:path w="8733539" h="5300207">
                <a:moveTo>
                  <a:pt x="0" y="0"/>
                </a:moveTo>
                <a:lnTo>
                  <a:pt x="8733539" y="0"/>
                </a:lnTo>
                <a:lnTo>
                  <a:pt x="8733539" y="5300207"/>
                </a:lnTo>
                <a:lnTo>
                  <a:pt x="0" y="53002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49589" y="1540837"/>
            <a:ext cx="16131591" cy="2056778"/>
          </a:xfrm>
          <a:custGeom>
            <a:avLst/>
            <a:gdLst/>
            <a:ahLst/>
            <a:cxnLst/>
            <a:rect l="l" t="t" r="r" b="b"/>
            <a:pathLst>
              <a:path w="16131591" h="2056778">
                <a:moveTo>
                  <a:pt x="0" y="0"/>
                </a:moveTo>
                <a:lnTo>
                  <a:pt x="16131591" y="0"/>
                </a:lnTo>
                <a:lnTo>
                  <a:pt x="16131591" y="2056777"/>
                </a:lnTo>
                <a:lnTo>
                  <a:pt x="0" y="20567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87140" y="460058"/>
            <a:ext cx="15215410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4000" b="1" spc="23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3. MONITORING COMMANDS ON LINUX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074128" y="5219700"/>
            <a:ext cx="7185172" cy="1311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3395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Wazuh</a:t>
            </a:r>
            <a:r>
              <a:rPr lang="en-US" sz="30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detects the privilege escalation and raises an alert under the MITRE ATT&amp;CK section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87140" y="2330051"/>
            <a:ext cx="7786000" cy="7483804"/>
          </a:xfrm>
          <a:custGeom>
            <a:avLst/>
            <a:gdLst/>
            <a:ahLst/>
            <a:cxnLst/>
            <a:rect l="l" t="t" r="r" b="b"/>
            <a:pathLst>
              <a:path w="7786000" h="7483804">
                <a:moveTo>
                  <a:pt x="0" y="0"/>
                </a:moveTo>
                <a:lnTo>
                  <a:pt x="7786001" y="0"/>
                </a:lnTo>
                <a:lnTo>
                  <a:pt x="7786001" y="7483804"/>
                </a:lnTo>
                <a:lnTo>
                  <a:pt x="0" y="7483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87140" y="460058"/>
            <a:ext cx="11462446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3600" b="1" spc="23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4. FILE INTEGRITY MONITORING (FIM)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7140" y="1654669"/>
            <a:ext cx="17134316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3395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Use </a:t>
            </a:r>
            <a:r>
              <a:rPr lang="en-US" sz="3000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Wazuh's</a:t>
            </a: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FIM module to monitor the Downloads folder on the Windows 10 machine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24341" y="4730432"/>
            <a:ext cx="6256513" cy="892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3395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Add, delete and modify files in the Downloads folder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87140" y="2141216"/>
            <a:ext cx="14026196" cy="2086397"/>
          </a:xfrm>
          <a:custGeom>
            <a:avLst/>
            <a:gdLst/>
            <a:ahLst/>
            <a:cxnLst/>
            <a:rect l="l" t="t" r="r" b="b"/>
            <a:pathLst>
              <a:path w="14026196" h="2086397">
                <a:moveTo>
                  <a:pt x="0" y="0"/>
                </a:moveTo>
                <a:lnTo>
                  <a:pt x="14026197" y="0"/>
                </a:lnTo>
                <a:lnTo>
                  <a:pt x="14026197" y="2086397"/>
                </a:lnTo>
                <a:lnTo>
                  <a:pt x="0" y="20863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87140" y="4568275"/>
            <a:ext cx="12185296" cy="4520652"/>
          </a:xfrm>
          <a:custGeom>
            <a:avLst/>
            <a:gdLst/>
            <a:ahLst/>
            <a:cxnLst/>
            <a:rect l="l" t="t" r="r" b="b"/>
            <a:pathLst>
              <a:path w="12185296" h="4520652">
                <a:moveTo>
                  <a:pt x="0" y="0"/>
                </a:moveTo>
                <a:lnTo>
                  <a:pt x="12185297" y="0"/>
                </a:lnTo>
                <a:lnTo>
                  <a:pt x="12185297" y="4520652"/>
                </a:lnTo>
                <a:lnTo>
                  <a:pt x="0" y="45206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87140" y="460058"/>
            <a:ext cx="11462446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3600" b="1" spc="23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4. FILE INTEGRITY MONITORING (FIM)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7140" y="1461642"/>
            <a:ext cx="12458337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3395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Wazuh</a:t>
            </a: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has logged every add, delete and modify action on the folder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87140" y="2500437"/>
            <a:ext cx="10743495" cy="2131780"/>
          </a:xfrm>
          <a:custGeom>
            <a:avLst/>
            <a:gdLst/>
            <a:ahLst/>
            <a:cxnLst/>
            <a:rect l="l" t="t" r="r" b="b"/>
            <a:pathLst>
              <a:path w="10743495" h="2131780">
                <a:moveTo>
                  <a:pt x="0" y="0"/>
                </a:moveTo>
                <a:lnTo>
                  <a:pt x="10743495" y="0"/>
                </a:lnTo>
                <a:lnTo>
                  <a:pt x="10743495" y="2131780"/>
                </a:lnTo>
                <a:lnTo>
                  <a:pt x="0" y="21317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87140" y="4951259"/>
            <a:ext cx="12436915" cy="4743817"/>
          </a:xfrm>
          <a:custGeom>
            <a:avLst/>
            <a:gdLst/>
            <a:ahLst/>
            <a:cxnLst/>
            <a:rect l="l" t="t" r="r" b="b"/>
            <a:pathLst>
              <a:path w="12436915" h="4743817">
                <a:moveTo>
                  <a:pt x="0" y="0"/>
                </a:moveTo>
                <a:lnTo>
                  <a:pt x="12436915" y="0"/>
                </a:lnTo>
                <a:lnTo>
                  <a:pt x="12436915" y="4743817"/>
                </a:lnTo>
                <a:lnTo>
                  <a:pt x="0" y="47438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87140" y="460058"/>
            <a:ext cx="13849656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3000" b="1" spc="23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5. VIRUSTOTAL INTEGRATION &amp; IOC DEVELOPMENT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7140" y="1573599"/>
            <a:ext cx="16962660" cy="4067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just">
              <a:lnSpc>
                <a:spcPts val="3395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Asap" panose="020B0604020202020204" charset="0"/>
                <a:ea typeface="Asap"/>
                <a:cs typeface="Asap"/>
                <a:sym typeface="Asap"/>
              </a:rPr>
              <a:t>On the Windows machine, prepare a piece of malware taken from the database of </a:t>
            </a:r>
            <a:r>
              <a:rPr lang="en-US" sz="2800" b="1" dirty="0" err="1">
                <a:solidFill>
                  <a:srgbClr val="000000"/>
                </a:solidFill>
                <a:latin typeface="Asap" panose="020B0604020202020204" charset="0"/>
                <a:ea typeface="Asap Bold"/>
                <a:cs typeface="Asap Bold"/>
                <a:sym typeface="Asap Bold"/>
              </a:rPr>
              <a:t>MalwareBazaar</a:t>
            </a:r>
            <a:endParaRPr lang="en-US" sz="2800" b="1" dirty="0">
              <a:solidFill>
                <a:srgbClr val="000000"/>
              </a:solidFill>
              <a:latin typeface="Asap" panose="020B0604020202020204" charset="0"/>
              <a:ea typeface="Asap Bold"/>
              <a:cs typeface="Asap Bold"/>
              <a:sym typeface="Asap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078705" y="6352119"/>
            <a:ext cx="5054645" cy="1308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just">
              <a:lnSpc>
                <a:spcPts val="3395"/>
              </a:lnSpc>
              <a:spcBef>
                <a:spcPct val="0"/>
              </a:spcBef>
            </a:pPr>
            <a:r>
              <a:rPr lang="en-US" sz="2800" b="1" dirty="0" err="1">
                <a:solidFill>
                  <a:srgbClr val="000000"/>
                </a:solidFill>
                <a:latin typeface="Asap" panose="020B0604020202020204" charset="0"/>
                <a:ea typeface="Asap Bold"/>
                <a:cs typeface="Asap Bold"/>
                <a:sym typeface="Asap Bold"/>
              </a:rPr>
              <a:t>ClamAV</a:t>
            </a:r>
            <a:r>
              <a:rPr lang="en-US" sz="2800" b="1" dirty="0">
                <a:solidFill>
                  <a:srgbClr val="000000"/>
                </a:solidFill>
                <a:latin typeface="Asap" panose="020B0604020202020204" charset="0"/>
                <a:ea typeface="Asap Bold"/>
                <a:cs typeface="Asap Bold"/>
                <a:sym typeface="Asap Bold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Asap" panose="020B0604020202020204" charset="0"/>
                <a:ea typeface="Asap"/>
                <a:cs typeface="Asap"/>
                <a:sym typeface="Asap"/>
              </a:rPr>
              <a:t>cannot detect this malware because it is not in signature database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87140" y="3790786"/>
            <a:ext cx="16575276" cy="5614875"/>
          </a:xfrm>
          <a:custGeom>
            <a:avLst/>
            <a:gdLst/>
            <a:ahLst/>
            <a:cxnLst/>
            <a:rect l="l" t="t" r="r" b="b"/>
            <a:pathLst>
              <a:path w="16575276" h="5614875">
                <a:moveTo>
                  <a:pt x="0" y="0"/>
                </a:moveTo>
                <a:lnTo>
                  <a:pt x="16575277" y="0"/>
                </a:lnTo>
                <a:lnTo>
                  <a:pt x="16575277" y="5614875"/>
                </a:lnTo>
                <a:lnTo>
                  <a:pt x="0" y="5614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87140" y="460058"/>
            <a:ext cx="13849656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3000" b="1" spc="23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5. VIRUSTOTAL INTEGRATION &amp; IOC DEVELOPMENT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7140" y="1660919"/>
            <a:ext cx="16993653" cy="1744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95"/>
              </a:lnSpc>
            </a:pPr>
            <a:r>
              <a:rPr lang="en-US" sz="3000" dirty="0">
                <a:solidFill>
                  <a:srgbClr val="000000"/>
                </a:solidFill>
                <a:latin typeface="Asap" panose="020B0604020202020204" charset="0"/>
                <a:ea typeface="Asap"/>
                <a:cs typeface="Asap"/>
                <a:sym typeface="Asap"/>
              </a:rPr>
              <a:t>The hash of the downloaded file is sent to the </a:t>
            </a:r>
            <a:r>
              <a:rPr lang="en-US" sz="3000" dirty="0" err="1">
                <a:solidFill>
                  <a:srgbClr val="000000"/>
                </a:solidFill>
                <a:latin typeface="Asap" panose="020B0604020202020204" charset="0"/>
                <a:ea typeface="Asap"/>
                <a:cs typeface="Asap"/>
                <a:sym typeface="Asap"/>
              </a:rPr>
              <a:t>Wazuh</a:t>
            </a:r>
            <a:r>
              <a:rPr lang="en-US" sz="3000" dirty="0">
                <a:solidFill>
                  <a:srgbClr val="000000"/>
                </a:solidFill>
                <a:latin typeface="Asap" panose="020B0604020202020204" charset="0"/>
                <a:ea typeface="Asap"/>
                <a:cs typeface="Asap"/>
                <a:sym typeface="Asap"/>
              </a:rPr>
              <a:t> server integrated with </a:t>
            </a:r>
            <a:r>
              <a:rPr lang="en-US" sz="3000" b="1" dirty="0" err="1">
                <a:solidFill>
                  <a:srgbClr val="000000"/>
                </a:solidFill>
                <a:latin typeface="Asap" panose="020B0604020202020204" charset="0"/>
                <a:ea typeface="Asap Bold"/>
                <a:cs typeface="Asap Bold"/>
                <a:sym typeface="Asap Bold"/>
              </a:rPr>
              <a:t>VirusTotal</a:t>
            </a:r>
            <a:r>
              <a:rPr lang="en-US" sz="3000" dirty="0">
                <a:solidFill>
                  <a:srgbClr val="000000"/>
                </a:solidFill>
                <a:latin typeface="Asap" panose="020B0604020202020204" charset="0"/>
                <a:ea typeface="Asap"/>
                <a:cs typeface="Asap"/>
                <a:sym typeface="Asap"/>
              </a:rPr>
              <a:t> for scanning.</a:t>
            </a:r>
          </a:p>
          <a:p>
            <a:pPr algn="just">
              <a:lnSpc>
                <a:spcPts val="3395"/>
              </a:lnSpc>
            </a:pPr>
            <a:endParaRPr lang="en-US" sz="3000" dirty="0">
              <a:solidFill>
                <a:srgbClr val="000000"/>
              </a:solidFill>
              <a:latin typeface="Asap" panose="020B0604020202020204" charset="0"/>
              <a:ea typeface="Asap"/>
              <a:cs typeface="Asap"/>
              <a:sym typeface="Asap"/>
            </a:endParaRPr>
          </a:p>
          <a:p>
            <a:pPr marL="0" lvl="1" indent="0" algn="just">
              <a:lnSpc>
                <a:spcPts val="3395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sap" panose="020B0604020202020204" charset="0"/>
                <a:ea typeface="Asap"/>
                <a:cs typeface="Asap"/>
                <a:sym typeface="Asap"/>
              </a:rPr>
              <a:t>If </a:t>
            </a:r>
            <a:r>
              <a:rPr lang="en-US" sz="3000" dirty="0" err="1">
                <a:solidFill>
                  <a:srgbClr val="000000"/>
                </a:solidFill>
                <a:latin typeface="Asap" panose="020B0604020202020204" charset="0"/>
                <a:ea typeface="Asap"/>
                <a:cs typeface="Asap"/>
                <a:sym typeface="Asap"/>
              </a:rPr>
              <a:t>VirusTotal</a:t>
            </a:r>
            <a:r>
              <a:rPr lang="en-US" sz="3000" dirty="0">
                <a:solidFill>
                  <a:srgbClr val="000000"/>
                </a:solidFill>
                <a:latin typeface="Asap" panose="020B0604020202020204" charset="0"/>
                <a:ea typeface="Asap"/>
                <a:cs typeface="Asap"/>
                <a:sym typeface="Asap"/>
              </a:rPr>
              <a:t> identifies it as malware, the </a:t>
            </a:r>
            <a:r>
              <a:rPr lang="en-US" sz="3000" dirty="0" err="1">
                <a:solidFill>
                  <a:srgbClr val="000000"/>
                </a:solidFill>
                <a:latin typeface="Asap" panose="020B0604020202020204" charset="0"/>
                <a:ea typeface="Asap"/>
                <a:cs typeface="Asap"/>
                <a:sym typeface="Asap"/>
              </a:rPr>
              <a:t>Wazuh</a:t>
            </a:r>
            <a:r>
              <a:rPr lang="en-US" sz="3000" dirty="0">
                <a:solidFill>
                  <a:srgbClr val="000000"/>
                </a:solidFill>
                <a:latin typeface="Asap" panose="020B0604020202020204" charset="0"/>
                <a:ea typeface="Asap"/>
                <a:cs typeface="Asap"/>
                <a:sym typeface="Asap"/>
              </a:rPr>
              <a:t> dashboard sends an alert. At the same time, the </a:t>
            </a:r>
            <a:r>
              <a:rPr lang="en-US" sz="3000" dirty="0" err="1">
                <a:solidFill>
                  <a:srgbClr val="000000"/>
                </a:solidFill>
                <a:latin typeface="Asap" panose="020B0604020202020204" charset="0"/>
                <a:ea typeface="Asap"/>
                <a:cs typeface="Asap"/>
                <a:sym typeface="Asap"/>
              </a:rPr>
              <a:t>wazuh</a:t>
            </a:r>
            <a:r>
              <a:rPr lang="en-US" sz="3000" dirty="0">
                <a:solidFill>
                  <a:srgbClr val="000000"/>
                </a:solidFill>
                <a:latin typeface="Asap" panose="020B0604020202020204" charset="0"/>
                <a:ea typeface="Asap"/>
                <a:cs typeface="Asap"/>
                <a:sym typeface="Asap"/>
              </a:rPr>
              <a:t>-agent on the infected machine triggers a script to automatically delete the malicious file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87140" y="1551470"/>
            <a:ext cx="9536769" cy="3937198"/>
          </a:xfrm>
          <a:custGeom>
            <a:avLst/>
            <a:gdLst/>
            <a:ahLst/>
            <a:cxnLst/>
            <a:rect l="l" t="t" r="r" b="b"/>
            <a:pathLst>
              <a:path w="9536769" h="3937198">
                <a:moveTo>
                  <a:pt x="0" y="0"/>
                </a:moveTo>
                <a:lnTo>
                  <a:pt x="9536770" y="0"/>
                </a:lnTo>
                <a:lnTo>
                  <a:pt x="9536770" y="3937199"/>
                </a:lnTo>
                <a:lnTo>
                  <a:pt x="0" y="39371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690416" y="4425934"/>
            <a:ext cx="7292761" cy="5372798"/>
          </a:xfrm>
          <a:custGeom>
            <a:avLst/>
            <a:gdLst/>
            <a:ahLst/>
            <a:cxnLst/>
            <a:rect l="l" t="t" r="r" b="b"/>
            <a:pathLst>
              <a:path w="7292761" h="5372798">
                <a:moveTo>
                  <a:pt x="0" y="0"/>
                </a:moveTo>
                <a:lnTo>
                  <a:pt x="7292761" y="0"/>
                </a:lnTo>
                <a:lnTo>
                  <a:pt x="7292761" y="5372798"/>
                </a:lnTo>
                <a:lnTo>
                  <a:pt x="0" y="53727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87140" y="460058"/>
            <a:ext cx="13849656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3000" b="1" spc="23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5. VIRUSTOTAL INTEGRATION &amp; IOC DEVELOPMENT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3390" y="2141479"/>
            <a:ext cx="6775910" cy="892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3395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Re-check the malware hash on the </a:t>
            </a:r>
            <a:r>
              <a:rPr lang="en-US" sz="3000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VirusTotal</a:t>
            </a: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website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48135" y="7683560"/>
            <a:ext cx="7614780" cy="892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3395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Save the malware hash to improve </a:t>
            </a:r>
            <a:r>
              <a:rPr lang="en-US" sz="3000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ClamAV's</a:t>
            </a: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signature database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87140" y="2382552"/>
            <a:ext cx="11301259" cy="3969567"/>
          </a:xfrm>
          <a:custGeom>
            <a:avLst/>
            <a:gdLst/>
            <a:ahLst/>
            <a:cxnLst/>
            <a:rect l="l" t="t" r="r" b="b"/>
            <a:pathLst>
              <a:path w="11301259" h="3969567">
                <a:moveTo>
                  <a:pt x="0" y="0"/>
                </a:moveTo>
                <a:lnTo>
                  <a:pt x="11301259" y="0"/>
                </a:lnTo>
                <a:lnTo>
                  <a:pt x="11301259" y="3969568"/>
                </a:lnTo>
                <a:lnTo>
                  <a:pt x="0" y="3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19797" y="6749180"/>
            <a:ext cx="10132439" cy="2310535"/>
          </a:xfrm>
          <a:custGeom>
            <a:avLst/>
            <a:gdLst/>
            <a:ahLst/>
            <a:cxnLst/>
            <a:rect l="l" t="t" r="r" b="b"/>
            <a:pathLst>
              <a:path w="10132439" h="2310535">
                <a:moveTo>
                  <a:pt x="0" y="0"/>
                </a:moveTo>
                <a:lnTo>
                  <a:pt x="10132439" y="0"/>
                </a:lnTo>
                <a:lnTo>
                  <a:pt x="10132439" y="2310536"/>
                </a:lnTo>
                <a:lnTo>
                  <a:pt x="0" y="23105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87140" y="460058"/>
            <a:ext cx="13849656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3000" b="1" spc="23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5. VIRUSTOTAL INTEGRATION &amp; IOC DEVELOPMENT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403640" y="3954268"/>
            <a:ext cx="5589035" cy="892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3395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Homepage of the Apache web server on the DVWA machine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42278" y="7503904"/>
            <a:ext cx="5589035" cy="892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3395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Configure the </a:t>
            </a:r>
            <a:r>
              <a:rPr lang="en-US" sz="3000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ossec.conf</a:t>
            </a: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file to collect the Apache access.log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735" y="1495425"/>
            <a:ext cx="11454429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3395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Simulate an SQL injection attack against the Apache web server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29045" y="2476500"/>
            <a:ext cx="11194501" cy="6815700"/>
          </a:xfrm>
          <a:custGeom>
            <a:avLst/>
            <a:gdLst/>
            <a:ahLst/>
            <a:cxnLst/>
            <a:rect l="l" t="t" r="r" b="b"/>
            <a:pathLst>
              <a:path w="11194501" h="6815700">
                <a:moveTo>
                  <a:pt x="0" y="0"/>
                </a:moveTo>
                <a:lnTo>
                  <a:pt x="11194501" y="0"/>
                </a:lnTo>
                <a:lnTo>
                  <a:pt x="11194501" y="6815700"/>
                </a:lnTo>
                <a:lnTo>
                  <a:pt x="0" y="6815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87140" y="460058"/>
            <a:ext cx="13849656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3000" b="1" spc="23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5. VIRUSTOTAL INTEGRATION &amp; IOC DEVELOPMENT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6388" y="1740511"/>
            <a:ext cx="8447612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3395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The attacker carries out an SQL injection attack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87140" y="1585069"/>
            <a:ext cx="11301259" cy="2090733"/>
          </a:xfrm>
          <a:custGeom>
            <a:avLst/>
            <a:gdLst/>
            <a:ahLst/>
            <a:cxnLst/>
            <a:rect l="l" t="t" r="r" b="b"/>
            <a:pathLst>
              <a:path w="11301259" h="2090733">
                <a:moveTo>
                  <a:pt x="0" y="0"/>
                </a:moveTo>
                <a:lnTo>
                  <a:pt x="11301259" y="0"/>
                </a:lnTo>
                <a:lnTo>
                  <a:pt x="11301259" y="2090733"/>
                </a:lnTo>
                <a:lnTo>
                  <a:pt x="0" y="20907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87140" y="4237798"/>
            <a:ext cx="11301259" cy="5650629"/>
          </a:xfrm>
          <a:custGeom>
            <a:avLst/>
            <a:gdLst/>
            <a:ahLst/>
            <a:cxnLst/>
            <a:rect l="l" t="t" r="r" b="b"/>
            <a:pathLst>
              <a:path w="11301259" h="5650629">
                <a:moveTo>
                  <a:pt x="0" y="0"/>
                </a:moveTo>
                <a:lnTo>
                  <a:pt x="11301259" y="0"/>
                </a:lnTo>
                <a:lnTo>
                  <a:pt x="11301259" y="5650629"/>
                </a:lnTo>
                <a:lnTo>
                  <a:pt x="0" y="56506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87140" y="460058"/>
            <a:ext cx="13849656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3000" b="1" spc="23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5. VIRUSTOTAL INTEGRATION &amp; IOC DEVELOPMENT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466144" y="2157484"/>
            <a:ext cx="5078980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3395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Wazuh</a:t>
            </a: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alert is triggered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448357" y="5741677"/>
            <a:ext cx="5025022" cy="1321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3395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Detailed description of the alert, including the attacker's IP and the attack payload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87140" y="1511639"/>
            <a:ext cx="9129586" cy="4406933"/>
          </a:xfrm>
          <a:custGeom>
            <a:avLst/>
            <a:gdLst/>
            <a:ahLst/>
            <a:cxnLst/>
            <a:rect l="l" t="t" r="r" b="b"/>
            <a:pathLst>
              <a:path w="9129586" h="4406933">
                <a:moveTo>
                  <a:pt x="0" y="0"/>
                </a:moveTo>
                <a:lnTo>
                  <a:pt x="9129587" y="0"/>
                </a:lnTo>
                <a:lnTo>
                  <a:pt x="9129587" y="4406933"/>
                </a:lnTo>
                <a:lnTo>
                  <a:pt x="0" y="44069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900532" y="4613355"/>
            <a:ext cx="6358768" cy="5037956"/>
          </a:xfrm>
          <a:custGeom>
            <a:avLst/>
            <a:gdLst/>
            <a:ahLst/>
            <a:cxnLst/>
            <a:rect l="l" t="t" r="r" b="b"/>
            <a:pathLst>
              <a:path w="6358768" h="5037956">
                <a:moveTo>
                  <a:pt x="0" y="0"/>
                </a:moveTo>
                <a:lnTo>
                  <a:pt x="6358768" y="0"/>
                </a:lnTo>
                <a:lnTo>
                  <a:pt x="6358768" y="5037956"/>
                </a:lnTo>
                <a:lnTo>
                  <a:pt x="0" y="50379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87140" y="460058"/>
            <a:ext cx="13849656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3000" b="1" spc="23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5. VIRUSTOTAL INTEGRATION &amp; IOC DEVELOPMENT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900532" y="2500829"/>
            <a:ext cx="5423526" cy="892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3395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The URL containing the attack payload has been saved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02315" y="7693791"/>
            <a:ext cx="6744802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3395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The attacker's IP is also saved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6407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324600" y="2665083"/>
            <a:ext cx="11301259" cy="3687036"/>
          </a:xfrm>
          <a:custGeom>
            <a:avLst/>
            <a:gdLst/>
            <a:ahLst/>
            <a:cxnLst/>
            <a:rect l="l" t="t" r="r" b="b"/>
            <a:pathLst>
              <a:path w="11301259" h="3687036">
                <a:moveTo>
                  <a:pt x="0" y="0"/>
                </a:moveTo>
                <a:lnTo>
                  <a:pt x="11301259" y="0"/>
                </a:lnTo>
                <a:lnTo>
                  <a:pt x="11301259" y="3687036"/>
                </a:lnTo>
                <a:lnTo>
                  <a:pt x="0" y="36870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87140" y="5759289"/>
            <a:ext cx="8720931" cy="4044332"/>
          </a:xfrm>
          <a:custGeom>
            <a:avLst/>
            <a:gdLst/>
            <a:ahLst/>
            <a:cxnLst/>
            <a:rect l="l" t="t" r="r" b="b"/>
            <a:pathLst>
              <a:path w="8720931" h="4044332">
                <a:moveTo>
                  <a:pt x="0" y="0"/>
                </a:moveTo>
                <a:lnTo>
                  <a:pt x="8720931" y="0"/>
                </a:lnTo>
                <a:lnTo>
                  <a:pt x="8720931" y="4044332"/>
                </a:lnTo>
                <a:lnTo>
                  <a:pt x="0" y="4044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84682" y="1408079"/>
            <a:ext cx="13487400" cy="12606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250"/>
              </a:lnSpc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Use </a:t>
            </a:r>
            <a:r>
              <a:rPr lang="en-US" sz="2500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Wazuh's</a:t>
            </a:r>
            <a:r>
              <a:rPr lang="en-US" sz="25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active-response feature to monitor and block malicious IP addresses, protecting web resources on the endpoints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7140" y="460058"/>
            <a:ext cx="14956173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4000" b="1" spc="23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6. BLOCKING KNOWN MALICIOUS ACTORS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30697" y="7400719"/>
            <a:ext cx="8323903" cy="1112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92"/>
              </a:lnSpc>
            </a:pPr>
            <a:r>
              <a:rPr lang="en-US" sz="28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Run the Apache web server on 2 endpoint machines </a:t>
            </a:r>
          </a:p>
          <a:p>
            <a:pPr marL="0" lvl="0" indent="0" algn="l">
              <a:lnSpc>
                <a:spcPts val="4592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namely Windows 10 and Ubuntu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74749" y="2642075"/>
            <a:ext cx="8769251" cy="4746357"/>
          </a:xfrm>
          <a:custGeom>
            <a:avLst/>
            <a:gdLst/>
            <a:ahLst/>
            <a:cxnLst/>
            <a:rect l="l" t="t" r="r" b="b"/>
            <a:pathLst>
              <a:path w="8769251" h="4746357">
                <a:moveTo>
                  <a:pt x="0" y="0"/>
                </a:moveTo>
                <a:lnTo>
                  <a:pt x="8769251" y="0"/>
                </a:lnTo>
                <a:lnTo>
                  <a:pt x="8769251" y="4746357"/>
                </a:lnTo>
                <a:lnTo>
                  <a:pt x="0" y="47463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663659" y="3576846"/>
            <a:ext cx="8197477" cy="4990214"/>
          </a:xfrm>
          <a:custGeom>
            <a:avLst/>
            <a:gdLst/>
            <a:ahLst/>
            <a:cxnLst/>
            <a:rect l="l" t="t" r="r" b="b"/>
            <a:pathLst>
              <a:path w="8197477" h="4990214">
                <a:moveTo>
                  <a:pt x="0" y="0"/>
                </a:moveTo>
                <a:lnTo>
                  <a:pt x="8197477" y="0"/>
                </a:lnTo>
                <a:lnTo>
                  <a:pt x="8197477" y="4990215"/>
                </a:lnTo>
                <a:lnTo>
                  <a:pt x="0" y="49902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74749" y="1539116"/>
            <a:ext cx="16486387" cy="5951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25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Use a RHEL 9.0 virtual machine to simulate the attacker, connecting to the victim's 2 web servers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7140" y="460058"/>
            <a:ext cx="14956173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4000" b="1" spc="23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6. BLOCKING KNOWN MALICIOUS ACTORS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74749" y="2802481"/>
            <a:ext cx="14871156" cy="2472330"/>
          </a:xfrm>
          <a:custGeom>
            <a:avLst/>
            <a:gdLst/>
            <a:ahLst/>
            <a:cxnLst/>
            <a:rect l="l" t="t" r="r" b="b"/>
            <a:pathLst>
              <a:path w="14871156" h="2472330">
                <a:moveTo>
                  <a:pt x="0" y="0"/>
                </a:moveTo>
                <a:lnTo>
                  <a:pt x="14871156" y="0"/>
                </a:lnTo>
                <a:lnTo>
                  <a:pt x="14871156" y="2472329"/>
                </a:lnTo>
                <a:lnTo>
                  <a:pt x="0" y="24723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74749" y="5653883"/>
            <a:ext cx="11301259" cy="2175492"/>
          </a:xfrm>
          <a:custGeom>
            <a:avLst/>
            <a:gdLst/>
            <a:ahLst/>
            <a:cxnLst/>
            <a:rect l="l" t="t" r="r" b="b"/>
            <a:pathLst>
              <a:path w="11301259" h="2175492">
                <a:moveTo>
                  <a:pt x="0" y="0"/>
                </a:moveTo>
                <a:lnTo>
                  <a:pt x="11301259" y="0"/>
                </a:lnTo>
                <a:lnTo>
                  <a:pt x="11301259" y="2175493"/>
                </a:lnTo>
                <a:lnTo>
                  <a:pt x="0" y="21754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104929" y="5503410"/>
            <a:ext cx="5154371" cy="3931941"/>
          </a:xfrm>
          <a:custGeom>
            <a:avLst/>
            <a:gdLst/>
            <a:ahLst/>
            <a:cxnLst/>
            <a:rect l="l" t="t" r="r" b="b"/>
            <a:pathLst>
              <a:path w="5154371" h="3931941">
                <a:moveTo>
                  <a:pt x="0" y="0"/>
                </a:moveTo>
                <a:lnTo>
                  <a:pt x="5154371" y="0"/>
                </a:lnTo>
                <a:lnTo>
                  <a:pt x="5154371" y="3931941"/>
                </a:lnTo>
                <a:lnTo>
                  <a:pt x="0" y="39319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74749" y="1255449"/>
            <a:ext cx="12198251" cy="1314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25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From here, we configure </a:t>
            </a:r>
            <a:r>
              <a:rPr lang="en-US" sz="2800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Wazuh</a:t>
            </a:r>
            <a:r>
              <a:rPr lang="en-US" sz="28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to recognize and flag the RHEL attacker machine's IP as a malicious attack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7140" y="460058"/>
            <a:ext cx="14956173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4000" b="1" spc="23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6. BLOCKING KNOWN MALICIOUS ACTORS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45214" y="8113199"/>
            <a:ext cx="9160329" cy="1145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92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Configure active-response to automatically block the malicious IP within 60s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99457" y="2400300"/>
            <a:ext cx="7383081" cy="6283946"/>
          </a:xfrm>
          <a:custGeom>
            <a:avLst/>
            <a:gdLst/>
            <a:ahLst/>
            <a:cxnLst/>
            <a:rect l="l" t="t" r="r" b="b"/>
            <a:pathLst>
              <a:path w="7383081" h="6283946">
                <a:moveTo>
                  <a:pt x="0" y="0"/>
                </a:moveTo>
                <a:lnTo>
                  <a:pt x="7383081" y="0"/>
                </a:lnTo>
                <a:lnTo>
                  <a:pt x="7383081" y="6283946"/>
                </a:lnTo>
                <a:lnTo>
                  <a:pt x="0" y="62839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211238" y="2376948"/>
            <a:ext cx="8048062" cy="6283946"/>
          </a:xfrm>
          <a:custGeom>
            <a:avLst/>
            <a:gdLst/>
            <a:ahLst/>
            <a:cxnLst/>
            <a:rect l="l" t="t" r="r" b="b"/>
            <a:pathLst>
              <a:path w="8048062" h="6283946">
                <a:moveTo>
                  <a:pt x="0" y="0"/>
                </a:moveTo>
                <a:lnTo>
                  <a:pt x="8048062" y="0"/>
                </a:lnTo>
                <a:lnTo>
                  <a:pt x="8048062" y="6283946"/>
                </a:lnTo>
                <a:lnTo>
                  <a:pt x="0" y="62839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36328" y="1486436"/>
            <a:ext cx="14331851" cy="5951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25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We try to access again from the RHEL machine and </a:t>
            </a:r>
            <a:r>
              <a:rPr lang="en-US" sz="3000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Wazuh</a:t>
            </a: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receives the access log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7140" y="460058"/>
            <a:ext cx="14956173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4000" b="1" spc="23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6. BLOCKING KNOWN MALICIOUS ACTORS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74749" y="2203925"/>
            <a:ext cx="11301259" cy="3800048"/>
          </a:xfrm>
          <a:custGeom>
            <a:avLst/>
            <a:gdLst/>
            <a:ahLst/>
            <a:cxnLst/>
            <a:rect l="l" t="t" r="r" b="b"/>
            <a:pathLst>
              <a:path w="11301259" h="3800048">
                <a:moveTo>
                  <a:pt x="0" y="0"/>
                </a:moveTo>
                <a:lnTo>
                  <a:pt x="11301259" y="0"/>
                </a:lnTo>
                <a:lnTo>
                  <a:pt x="11301259" y="3800049"/>
                </a:lnTo>
                <a:lnTo>
                  <a:pt x="0" y="38000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567509" y="4447137"/>
            <a:ext cx="9691791" cy="5354714"/>
          </a:xfrm>
          <a:custGeom>
            <a:avLst/>
            <a:gdLst/>
            <a:ahLst/>
            <a:cxnLst/>
            <a:rect l="l" t="t" r="r" b="b"/>
            <a:pathLst>
              <a:path w="9691791" h="5354714">
                <a:moveTo>
                  <a:pt x="0" y="0"/>
                </a:moveTo>
                <a:lnTo>
                  <a:pt x="9691791" y="0"/>
                </a:lnTo>
                <a:lnTo>
                  <a:pt x="9691791" y="5354714"/>
                </a:lnTo>
                <a:lnTo>
                  <a:pt x="0" y="53547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74749" y="1327625"/>
            <a:ext cx="16096125" cy="59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5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The IP has been blocked automatically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7140" y="460058"/>
            <a:ext cx="14956173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4000" b="1" spc="23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6. BLOCKING KNOWN MALICIOUS ACTORS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49560" y="2511604"/>
            <a:ext cx="11560904" cy="3193700"/>
          </a:xfrm>
          <a:custGeom>
            <a:avLst/>
            <a:gdLst/>
            <a:ahLst/>
            <a:cxnLst/>
            <a:rect l="l" t="t" r="r" b="b"/>
            <a:pathLst>
              <a:path w="11560904" h="3193700">
                <a:moveTo>
                  <a:pt x="0" y="0"/>
                </a:moveTo>
                <a:lnTo>
                  <a:pt x="11560904" y="0"/>
                </a:lnTo>
                <a:lnTo>
                  <a:pt x="11560904" y="3193700"/>
                </a:lnTo>
                <a:lnTo>
                  <a:pt x="0" y="3193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965226" y="3094701"/>
            <a:ext cx="9522910" cy="5701842"/>
          </a:xfrm>
          <a:custGeom>
            <a:avLst/>
            <a:gdLst/>
            <a:ahLst/>
            <a:cxnLst/>
            <a:rect l="l" t="t" r="r" b="b"/>
            <a:pathLst>
              <a:path w="9522910" h="5701842">
                <a:moveTo>
                  <a:pt x="0" y="0"/>
                </a:moveTo>
                <a:lnTo>
                  <a:pt x="9522910" y="0"/>
                </a:lnTo>
                <a:lnTo>
                  <a:pt x="9522910" y="5701843"/>
                </a:lnTo>
                <a:lnTo>
                  <a:pt x="0" y="57018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49560" y="1662085"/>
            <a:ext cx="16096125" cy="59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5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Configure </a:t>
            </a:r>
            <a:r>
              <a:rPr lang="en-US" sz="3000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Teler</a:t>
            </a: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on the machine hosting DVWA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7140" y="460058"/>
            <a:ext cx="14956173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3600" b="1" spc="23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7. ATTACK DETECTION WITH WAZUH AND TELER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5596" y="6410119"/>
            <a:ext cx="8048062" cy="131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Add rules so that </a:t>
            </a:r>
            <a:r>
              <a:rPr lang="en-US" sz="3000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Wazuh</a:t>
            </a: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works</a:t>
            </a:r>
          </a:p>
          <a:p>
            <a:pPr marL="0" lvl="0" indent="0" algn="l">
              <a:lnSpc>
                <a:spcPts val="525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together with the rules built into </a:t>
            </a:r>
            <a:r>
              <a:rPr lang="en-US" sz="3000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Teler</a:t>
            </a:r>
            <a:endParaRPr lang="en-US" sz="3000" dirty="0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180926" y="2371813"/>
            <a:ext cx="10965465" cy="6593707"/>
          </a:xfrm>
          <a:custGeom>
            <a:avLst/>
            <a:gdLst/>
            <a:ahLst/>
            <a:cxnLst/>
            <a:rect l="l" t="t" r="r" b="b"/>
            <a:pathLst>
              <a:path w="10965465" h="6593707">
                <a:moveTo>
                  <a:pt x="0" y="0"/>
                </a:moveTo>
                <a:lnTo>
                  <a:pt x="10965465" y="0"/>
                </a:lnTo>
                <a:lnTo>
                  <a:pt x="10965465" y="6593707"/>
                </a:lnTo>
                <a:lnTo>
                  <a:pt x="0" y="65937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82224" y="1502929"/>
            <a:ext cx="16096125" cy="59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5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Use the </a:t>
            </a:r>
            <a:r>
              <a:rPr lang="en-US" sz="3000" b="1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nikto</a:t>
            </a: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tool on Kali to simulate the attack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7140" y="460058"/>
            <a:ext cx="14956173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3600" b="1" spc="23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7. ATTACK DETECTION WITH WAZUH AND TELER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54743" y="2366372"/>
            <a:ext cx="15804557" cy="6242800"/>
          </a:xfrm>
          <a:custGeom>
            <a:avLst/>
            <a:gdLst/>
            <a:ahLst/>
            <a:cxnLst/>
            <a:rect l="l" t="t" r="r" b="b"/>
            <a:pathLst>
              <a:path w="15804557" h="6242800">
                <a:moveTo>
                  <a:pt x="0" y="0"/>
                </a:moveTo>
                <a:lnTo>
                  <a:pt x="15804557" y="0"/>
                </a:lnTo>
                <a:lnTo>
                  <a:pt x="15804557" y="6242800"/>
                </a:lnTo>
                <a:lnTo>
                  <a:pt x="0" y="62428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15596" y="1409405"/>
            <a:ext cx="16096125" cy="59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5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Alerts from </a:t>
            </a:r>
            <a:r>
              <a:rPr lang="en-US" sz="3000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Teler</a:t>
            </a: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are pushed to the </a:t>
            </a:r>
            <a:r>
              <a:rPr lang="en-US" sz="3000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Wazuh</a:t>
            </a: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dashboard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7140" y="460058"/>
            <a:ext cx="14956173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3600" b="1" spc="23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7. ATTACK DETECTION WITH WAZUH AND TELER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15596" y="2198126"/>
            <a:ext cx="11301259" cy="5240959"/>
          </a:xfrm>
          <a:custGeom>
            <a:avLst/>
            <a:gdLst/>
            <a:ahLst/>
            <a:cxnLst/>
            <a:rect l="l" t="t" r="r" b="b"/>
            <a:pathLst>
              <a:path w="11301259" h="5240959">
                <a:moveTo>
                  <a:pt x="0" y="0"/>
                </a:moveTo>
                <a:lnTo>
                  <a:pt x="11301259" y="0"/>
                </a:lnTo>
                <a:lnTo>
                  <a:pt x="11301259" y="5240959"/>
                </a:lnTo>
                <a:lnTo>
                  <a:pt x="0" y="52409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958041" y="5485811"/>
            <a:ext cx="11301259" cy="3277365"/>
          </a:xfrm>
          <a:custGeom>
            <a:avLst/>
            <a:gdLst/>
            <a:ahLst/>
            <a:cxnLst/>
            <a:rect l="l" t="t" r="r" b="b"/>
            <a:pathLst>
              <a:path w="11301259" h="3277365">
                <a:moveTo>
                  <a:pt x="0" y="0"/>
                </a:moveTo>
                <a:lnTo>
                  <a:pt x="11301259" y="0"/>
                </a:lnTo>
                <a:lnTo>
                  <a:pt x="11301259" y="3277365"/>
                </a:lnTo>
                <a:lnTo>
                  <a:pt x="0" y="32773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15596" y="1325282"/>
            <a:ext cx="16096125" cy="59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5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Install and configure Suricata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7140" y="460058"/>
            <a:ext cx="14956173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4000" b="1" spc="238" dirty="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8. INTEGRATING SURICATA IDS WITH WAZUH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87140" y="3084304"/>
            <a:ext cx="11087452" cy="2050283"/>
          </a:xfrm>
          <a:custGeom>
            <a:avLst/>
            <a:gdLst/>
            <a:ahLst/>
            <a:cxnLst/>
            <a:rect l="l" t="t" r="r" b="b"/>
            <a:pathLst>
              <a:path w="11087452" h="2050283">
                <a:moveTo>
                  <a:pt x="0" y="0"/>
                </a:moveTo>
                <a:lnTo>
                  <a:pt x="11087452" y="0"/>
                </a:lnTo>
                <a:lnTo>
                  <a:pt x="11087452" y="2050283"/>
                </a:lnTo>
                <a:lnTo>
                  <a:pt x="0" y="20502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667000" y="5704516"/>
            <a:ext cx="11156968" cy="2393945"/>
          </a:xfrm>
          <a:custGeom>
            <a:avLst/>
            <a:gdLst/>
            <a:ahLst/>
            <a:cxnLst/>
            <a:rect l="l" t="t" r="r" b="b"/>
            <a:pathLst>
              <a:path w="11156968" h="2393945">
                <a:moveTo>
                  <a:pt x="0" y="0"/>
                </a:moveTo>
                <a:lnTo>
                  <a:pt x="11156968" y="0"/>
                </a:lnTo>
                <a:lnTo>
                  <a:pt x="11156968" y="2393945"/>
                </a:lnTo>
                <a:lnTo>
                  <a:pt x="0" y="23939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19095" y="2242931"/>
            <a:ext cx="16096125" cy="59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5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Simulate a network attack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7140" y="460058"/>
            <a:ext cx="14956173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4000" b="1" spc="23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8. INTEGRATING SURICATA IDS WITH WAZUH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05634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176364">
            <a:off x="-4503370" y="7375686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15596" y="2913953"/>
            <a:ext cx="12537186" cy="6237250"/>
          </a:xfrm>
          <a:custGeom>
            <a:avLst/>
            <a:gdLst/>
            <a:ahLst/>
            <a:cxnLst/>
            <a:rect l="l" t="t" r="r" b="b"/>
            <a:pathLst>
              <a:path w="12537186" h="6237250">
                <a:moveTo>
                  <a:pt x="0" y="0"/>
                </a:moveTo>
                <a:lnTo>
                  <a:pt x="12537187" y="0"/>
                </a:lnTo>
                <a:lnTo>
                  <a:pt x="12537187" y="6237250"/>
                </a:lnTo>
                <a:lnTo>
                  <a:pt x="0" y="6237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508470" y="1135797"/>
            <a:ext cx="7502452" cy="4107725"/>
          </a:xfrm>
          <a:custGeom>
            <a:avLst/>
            <a:gdLst/>
            <a:ahLst/>
            <a:cxnLst/>
            <a:rect l="l" t="t" r="r" b="b"/>
            <a:pathLst>
              <a:path w="7502452" h="4107725">
                <a:moveTo>
                  <a:pt x="0" y="0"/>
                </a:moveTo>
                <a:lnTo>
                  <a:pt x="7502452" y="0"/>
                </a:lnTo>
                <a:lnTo>
                  <a:pt x="7502452" y="4107725"/>
                </a:lnTo>
                <a:lnTo>
                  <a:pt x="0" y="41077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15596" y="1980920"/>
            <a:ext cx="16096125" cy="59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5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Logs from Suricata are pushed to </a:t>
            </a:r>
            <a:r>
              <a:rPr lang="en-US" sz="2800" dirty="0" err="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Wazuh</a:t>
            </a:r>
            <a:endParaRPr lang="en-US" sz="2800" dirty="0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87140" y="460058"/>
            <a:ext cx="14956173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4000" b="1" spc="23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8. INTEGRATING SURICATA IDS WITH WAZUH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-10580377">
            <a:off x="9407140" y="-9309963"/>
            <a:ext cx="24036383" cy="24664199"/>
          </a:xfrm>
          <a:custGeom>
            <a:avLst/>
            <a:gdLst/>
            <a:ahLst/>
            <a:cxnLst/>
            <a:rect l="l" t="t" r="r" b="b"/>
            <a:pathLst>
              <a:path w="24036383" h="24664199">
                <a:moveTo>
                  <a:pt x="0" y="0"/>
                </a:moveTo>
                <a:lnTo>
                  <a:pt x="24036383" y="0"/>
                </a:lnTo>
                <a:lnTo>
                  <a:pt x="24036383" y="24664198"/>
                </a:lnTo>
                <a:lnTo>
                  <a:pt x="0" y="246641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61733" y="2105045"/>
            <a:ext cx="8097687" cy="324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015"/>
              </a:lnSpc>
              <a:spcBef>
                <a:spcPct val="0"/>
              </a:spcBef>
            </a:pPr>
            <a:r>
              <a:rPr lang="en-US" sz="9431" b="1" spc="924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THANKS FOR WATCHING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-4254153" y="7476061"/>
            <a:ext cx="11881594" cy="3564478"/>
          </a:xfrm>
          <a:custGeom>
            <a:avLst/>
            <a:gdLst/>
            <a:ahLst/>
            <a:cxnLst/>
            <a:rect l="l" t="t" r="r" b="b"/>
            <a:pathLst>
              <a:path w="11881594" h="3564478">
                <a:moveTo>
                  <a:pt x="11881594" y="0"/>
                </a:moveTo>
                <a:lnTo>
                  <a:pt x="0" y="0"/>
                </a:lnTo>
                <a:lnTo>
                  <a:pt x="0" y="3564478"/>
                </a:lnTo>
                <a:lnTo>
                  <a:pt x="11881594" y="3564478"/>
                </a:lnTo>
                <a:lnTo>
                  <a:pt x="1188159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1349</Words>
  <Application>Microsoft Office PowerPoint</Application>
  <PresentationFormat>Custom</PresentationFormat>
  <Paragraphs>137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Oswald Bold</vt:lpstr>
      <vt:lpstr>Asap Bold</vt:lpstr>
      <vt:lpstr>Asap</vt:lpstr>
      <vt:lpstr>Arial</vt:lpstr>
      <vt:lpstr>DM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Đồ án chuyên nghành</dc:title>
  <cp:lastModifiedBy>Hoàng Phúc</cp:lastModifiedBy>
  <cp:revision>7</cp:revision>
  <dcterms:created xsi:type="dcterms:W3CDTF">2006-08-16T00:00:00Z</dcterms:created>
  <dcterms:modified xsi:type="dcterms:W3CDTF">2026-08-24T10:03:34Z</dcterms:modified>
  <dc:identifier>DAGXroUDAoc</dc:identifier>
</cp:coreProperties>
</file>